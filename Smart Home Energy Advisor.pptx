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ptos Bold" charset="1" panose="020B0004020202020204"/>
      <p:regular r:id="rId29"/>
    </p:embeddedFont>
    <p:embeddedFont>
      <p:font typeface="Aptos" charset="1" panose="020B00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SHEA/PROJECT BRIEF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01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SMART HOME / ENERGY INTELLIGENCE</a:t>
            </a:r>
          </a:p>
        </p:txBody>
      </p:sp>
      <p:sp>
        <p:nvSpPr>
          <p:cNvPr name="AutoShape 9" id="9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790" y="1871015"/>
            <a:ext cx="11687284" cy="231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8"/>
              </a:lnSpc>
            </a:pPr>
            <a:r>
              <a:rPr lang="en-US" sz="6006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Smart Home</a:t>
            </a:r>
          </a:p>
          <a:p>
            <a:pPr algn="l">
              <a:lnSpc>
                <a:spcPts val="7208"/>
              </a:lnSpc>
            </a:pPr>
            <a:r>
              <a:rPr lang="en-US" sz="6006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2701" y="4540023"/>
            <a:ext cx="1623229" cy="143255"/>
            <a:chOff x="0" y="0"/>
            <a:chExt cx="1947164" cy="1718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7164" cy="171831"/>
            </a:xfrm>
            <a:custGeom>
              <a:avLst/>
              <a:gdLst/>
              <a:ahLst/>
              <a:cxnLst/>
              <a:rect r="r" b="b" t="t" l="l"/>
              <a:pathLst>
                <a:path h="171831" w="1947164">
                  <a:moveTo>
                    <a:pt x="0" y="0"/>
                  </a:moveTo>
                  <a:lnTo>
                    <a:pt x="1947164" y="0"/>
                  </a:lnTo>
                  <a:lnTo>
                    <a:pt x="194716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23790" y="5038839"/>
            <a:ext cx="10924413" cy="93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669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 notebook-grounded path from appliance context to a more actionable energy decision.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24955" y="1843573"/>
            <a:ext cx="3725285" cy="5097951"/>
            <a:chOff x="0" y="0"/>
            <a:chExt cx="4967046" cy="67972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7097" cy="6797294"/>
            </a:xfrm>
            <a:custGeom>
              <a:avLst/>
              <a:gdLst/>
              <a:ahLst/>
              <a:cxnLst/>
              <a:rect r="r" b="b" t="t" l="l"/>
              <a:pathLst>
                <a:path h="6797294" w="4967097">
                  <a:moveTo>
                    <a:pt x="0" y="397383"/>
                  </a:moveTo>
                  <a:cubicBezTo>
                    <a:pt x="0" y="177927"/>
                    <a:pt x="177927" y="0"/>
                    <a:pt x="397383" y="0"/>
                  </a:cubicBezTo>
                  <a:lnTo>
                    <a:pt x="4569714" y="0"/>
                  </a:lnTo>
                  <a:cubicBezTo>
                    <a:pt x="4789170" y="0"/>
                    <a:pt x="4967097" y="177927"/>
                    <a:pt x="4967097" y="397383"/>
                  </a:cubicBezTo>
                  <a:lnTo>
                    <a:pt x="4967097" y="6399911"/>
                  </a:lnTo>
                  <a:cubicBezTo>
                    <a:pt x="4967097" y="6619367"/>
                    <a:pt x="4789170" y="6797294"/>
                    <a:pt x="4569714" y="6797294"/>
                  </a:cubicBezTo>
                  <a:lnTo>
                    <a:pt x="397383" y="6797294"/>
                  </a:lnTo>
                  <a:cubicBezTo>
                    <a:pt x="177927" y="6797294"/>
                    <a:pt x="0" y="6619367"/>
                    <a:pt x="0" y="6399911"/>
                  </a:cubicBez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410990" y="2470785"/>
            <a:ext cx="2553214" cy="104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</a:pPr>
            <a:r>
              <a:rPr lang="en-US" sz="6905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AutoShape 18" id="18"/>
          <p:cNvSpPr/>
          <p:nvPr/>
        </p:nvSpPr>
        <p:spPr>
          <a:xfrm rot="87240">
            <a:off x="13560495" y="3856644"/>
            <a:ext cx="2254196" cy="0"/>
          </a:xfrm>
          <a:prstGeom prst="line">
            <a:avLst/>
          </a:prstGeom>
          <a:ln cap="rnd" w="28575">
            <a:solidFill>
              <a:srgbClr val="DB31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3369804" y="4392530"/>
            <a:ext cx="2621852" cy="145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MODEL</a:t>
            </a:r>
          </a:p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DECISION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SHEA/THE CASE FOR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02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Energy decisions are hard to act on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403" y="2653436"/>
            <a:ext cx="9553842" cy="33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The raw signal is available. The decision context is not.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5436" y="3394691"/>
            <a:ext cx="10588638" cy="4892050"/>
            <a:chOff x="0" y="0"/>
            <a:chExt cx="14118184" cy="65227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18208" cy="6522720"/>
            </a:xfrm>
            <a:custGeom>
              <a:avLst/>
              <a:gdLst/>
              <a:ahLst/>
              <a:cxnLst/>
              <a:rect r="r" b="b" t="t" l="l"/>
              <a:pathLst>
                <a:path h="6522720" w="14118208">
                  <a:moveTo>
                    <a:pt x="0" y="521843"/>
                  </a:moveTo>
                  <a:cubicBezTo>
                    <a:pt x="0" y="233680"/>
                    <a:pt x="233680" y="0"/>
                    <a:pt x="521843" y="0"/>
                  </a:cubicBezTo>
                  <a:lnTo>
                    <a:pt x="13596365" y="0"/>
                  </a:lnTo>
                  <a:cubicBezTo>
                    <a:pt x="13884529" y="0"/>
                    <a:pt x="14118208" y="233680"/>
                    <a:pt x="14118208" y="521843"/>
                  </a:cubicBezTo>
                  <a:lnTo>
                    <a:pt x="14118208" y="6000877"/>
                  </a:lnTo>
                  <a:cubicBezTo>
                    <a:pt x="14118208" y="6289040"/>
                    <a:pt x="13884529" y="6522720"/>
                    <a:pt x="13596365" y="6522720"/>
                  </a:cubicBezTo>
                  <a:lnTo>
                    <a:pt x="521843" y="6522720"/>
                  </a:lnTo>
                  <a:cubicBezTo>
                    <a:pt x="233680" y="6522720"/>
                    <a:pt x="0" y="6289167"/>
                    <a:pt x="0" y="60008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5436" y="3394691"/>
            <a:ext cx="115148" cy="4892050"/>
            <a:chOff x="0" y="0"/>
            <a:chExt cx="153530" cy="6522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543" cy="6522720"/>
            </a:xfrm>
            <a:custGeom>
              <a:avLst/>
              <a:gdLst/>
              <a:ahLst/>
              <a:cxnLst/>
              <a:rect r="r" b="b" t="t" l="l"/>
              <a:pathLst>
                <a:path h="652272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22720"/>
                  </a:lnTo>
                  <a:lnTo>
                    <a:pt x="0" y="6522720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1844" y="3696672"/>
            <a:ext cx="993819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WHAT GETS IN THE WAY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227814"/>
            <a:ext cx="9938195" cy="377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01  Appliance data is fragmented across sources.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02  Consumption changes with appliance and hour.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03  A useful estimate needs context, not just kWh.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71975" y="3394691"/>
            <a:ext cx="4548883" cy="4892050"/>
            <a:chOff x="0" y="0"/>
            <a:chExt cx="6065177" cy="65227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65266" cy="6522847"/>
            </a:xfrm>
            <a:custGeom>
              <a:avLst/>
              <a:gdLst/>
              <a:ahLst/>
              <a:cxnLst/>
              <a:rect r="r" b="b" t="t" l="l"/>
              <a:pathLst>
                <a:path h="6522847" w="6065266">
                  <a:moveTo>
                    <a:pt x="0" y="485267"/>
                  </a:moveTo>
                  <a:cubicBezTo>
                    <a:pt x="0" y="217297"/>
                    <a:pt x="217297" y="0"/>
                    <a:pt x="485267" y="0"/>
                  </a:cubicBezTo>
                  <a:lnTo>
                    <a:pt x="5579999" y="0"/>
                  </a:lnTo>
                  <a:cubicBezTo>
                    <a:pt x="5847969" y="0"/>
                    <a:pt x="6065266" y="217297"/>
                    <a:pt x="6065266" y="485267"/>
                  </a:cubicBezTo>
                  <a:lnTo>
                    <a:pt x="6065266" y="6037580"/>
                  </a:lnTo>
                  <a:cubicBezTo>
                    <a:pt x="6065266" y="6305550"/>
                    <a:pt x="5847969" y="6522847"/>
                    <a:pt x="5579999" y="6522847"/>
                  </a:cubicBezTo>
                  <a:lnTo>
                    <a:pt x="485267" y="6522847"/>
                  </a:lnTo>
                  <a:cubicBezTo>
                    <a:pt x="217297" y="6522720"/>
                    <a:pt x="0" y="6305550"/>
                    <a:pt x="0" y="60375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71975" y="3394691"/>
            <a:ext cx="115148" cy="4892050"/>
            <a:chOff x="0" y="0"/>
            <a:chExt cx="153530" cy="65227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6522720"/>
            </a:xfrm>
            <a:custGeom>
              <a:avLst/>
              <a:gdLst/>
              <a:ahLst/>
              <a:cxnLst/>
              <a:rect r="r" b="b" t="t" l="l"/>
              <a:pathLst>
                <a:path h="652272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22720"/>
                  </a:lnTo>
                  <a:lnTo>
                    <a:pt x="0" y="6522720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738383" y="3696672"/>
            <a:ext cx="389843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PROJECT SCOPE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38383" y="4227814"/>
            <a:ext cx="3898430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38383" y="4982775"/>
            <a:ext cx="3898430" cy="30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datasets are needed to make the advisor useful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SHEA/THE CASE FOR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03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THE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One advisor, from raw inputs to next action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078985"/>
            <a:ext cx="5029324" cy="4480246"/>
            <a:chOff x="0" y="0"/>
            <a:chExt cx="6705765" cy="59736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5727" cy="5973699"/>
            </a:xfrm>
            <a:custGeom>
              <a:avLst/>
              <a:gdLst/>
              <a:ahLst/>
              <a:cxnLst/>
              <a:rect r="r" b="b" t="t" l="l"/>
              <a:pathLst>
                <a:path h="5973699" w="6705727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6227826" y="0"/>
                  </a:lnTo>
                  <a:cubicBezTo>
                    <a:pt x="6491732" y="0"/>
                    <a:pt x="6705727" y="213995"/>
                    <a:pt x="6705727" y="477901"/>
                  </a:cubicBezTo>
                  <a:lnTo>
                    <a:pt x="6705727" y="5495798"/>
                  </a:lnTo>
                  <a:cubicBezTo>
                    <a:pt x="6705727" y="5759704"/>
                    <a:pt x="6491732" y="5973699"/>
                    <a:pt x="6227826" y="5973699"/>
                  </a:cubicBezTo>
                  <a:lnTo>
                    <a:pt x="477901" y="5973699"/>
                  </a:lnTo>
                  <a:cubicBezTo>
                    <a:pt x="213995" y="5973699"/>
                    <a:pt x="0" y="5759704"/>
                    <a:pt x="0" y="54957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3078985"/>
            <a:ext cx="115148" cy="4480246"/>
            <a:chOff x="0" y="0"/>
            <a:chExt cx="153530" cy="59736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5973699"/>
            </a:xfrm>
            <a:custGeom>
              <a:avLst/>
              <a:gdLst/>
              <a:ahLst/>
              <a:cxnLst/>
              <a:rect r="r" b="b" t="t" l="l"/>
              <a:pathLst>
                <a:path h="5973699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5973699"/>
                  </a:lnTo>
                  <a:lnTo>
                    <a:pt x="0" y="5973699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380956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BLEND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912098"/>
            <a:ext cx="4378871" cy="336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Consumption, usage, and appliance metadata.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3210" y="3078985"/>
            <a:ext cx="5029324" cy="4480246"/>
            <a:chOff x="0" y="0"/>
            <a:chExt cx="6705765" cy="59736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727" cy="5973699"/>
            </a:xfrm>
            <a:custGeom>
              <a:avLst/>
              <a:gdLst/>
              <a:ahLst/>
              <a:cxnLst/>
              <a:rect r="r" b="b" t="t" l="l"/>
              <a:pathLst>
                <a:path h="5973699" w="6705727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6227826" y="0"/>
                  </a:lnTo>
                  <a:cubicBezTo>
                    <a:pt x="6491732" y="0"/>
                    <a:pt x="6705727" y="213995"/>
                    <a:pt x="6705727" y="477901"/>
                  </a:cubicBezTo>
                  <a:lnTo>
                    <a:pt x="6705727" y="5495798"/>
                  </a:lnTo>
                  <a:cubicBezTo>
                    <a:pt x="6705727" y="5759704"/>
                    <a:pt x="6491732" y="5973699"/>
                    <a:pt x="6227826" y="5973699"/>
                  </a:cubicBezTo>
                  <a:lnTo>
                    <a:pt x="477901" y="5973699"/>
                  </a:lnTo>
                  <a:cubicBezTo>
                    <a:pt x="213995" y="5973699"/>
                    <a:pt x="0" y="5759704"/>
                    <a:pt x="0" y="54957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83210" y="3078985"/>
            <a:ext cx="115148" cy="4480246"/>
            <a:chOff x="0" y="0"/>
            <a:chExt cx="153530" cy="59736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5973699"/>
            </a:xfrm>
            <a:custGeom>
              <a:avLst/>
              <a:gdLst/>
              <a:ahLst/>
              <a:cxnLst/>
              <a:rect r="r" b="b" t="t" l="l"/>
              <a:pathLst>
                <a:path h="5973699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5973699"/>
                  </a:lnTo>
                  <a:lnTo>
                    <a:pt x="0" y="5973699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849618" y="3380956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CONTEXT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9618" y="3912098"/>
            <a:ext cx="4378871" cy="336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Hour, month, weekend, season, and appliance level.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220975" y="3078985"/>
            <a:ext cx="5029324" cy="4480246"/>
            <a:chOff x="0" y="0"/>
            <a:chExt cx="6705765" cy="59736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727" cy="5973699"/>
            </a:xfrm>
            <a:custGeom>
              <a:avLst/>
              <a:gdLst/>
              <a:ahLst/>
              <a:cxnLst/>
              <a:rect r="r" b="b" t="t" l="l"/>
              <a:pathLst>
                <a:path h="5973699" w="6705727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6227826" y="0"/>
                  </a:lnTo>
                  <a:cubicBezTo>
                    <a:pt x="6491732" y="0"/>
                    <a:pt x="6705727" y="213995"/>
                    <a:pt x="6705727" y="477901"/>
                  </a:cubicBezTo>
                  <a:lnTo>
                    <a:pt x="6705727" y="5495798"/>
                  </a:lnTo>
                  <a:cubicBezTo>
                    <a:pt x="6705727" y="5759704"/>
                    <a:pt x="6491732" y="5973699"/>
                    <a:pt x="6227826" y="5973699"/>
                  </a:cubicBezTo>
                  <a:lnTo>
                    <a:pt x="477901" y="5973699"/>
                  </a:lnTo>
                  <a:cubicBezTo>
                    <a:pt x="213995" y="5973699"/>
                    <a:pt x="0" y="5759704"/>
                    <a:pt x="0" y="54957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20975" y="3078985"/>
            <a:ext cx="115148" cy="4480246"/>
            <a:chOff x="0" y="0"/>
            <a:chExt cx="153530" cy="59736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543" cy="5973699"/>
            </a:xfrm>
            <a:custGeom>
              <a:avLst/>
              <a:gdLst/>
              <a:ahLst/>
              <a:cxnLst/>
              <a:rect r="r" b="b" t="t" l="l"/>
              <a:pathLst>
                <a:path h="5973699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5973699"/>
                  </a:lnTo>
                  <a:lnTo>
                    <a:pt x="0" y="5973699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587383" y="3380956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03 / RECOMMEND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7383" y="3912098"/>
            <a:ext cx="4378871" cy="336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Predict kWh, estimate a directional bill, and show a what-if path.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16197" y="5023961"/>
            <a:ext cx="42556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53971" y="5023961"/>
            <a:ext cx="42556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2403" y="8675265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DEPLOYMENT LOGIC / ADVISOR_LOGIC.PY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SHEA/THE CASE FOR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04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03 / TARGET AUDIENCE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For households that want a clearer energy decision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010348"/>
            <a:ext cx="4988138" cy="4823422"/>
            <a:chOff x="0" y="0"/>
            <a:chExt cx="6650850" cy="64312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863" cy="6431153"/>
            </a:xfrm>
            <a:custGeom>
              <a:avLst/>
              <a:gdLst/>
              <a:ahLst/>
              <a:cxnLst/>
              <a:rect r="r" b="b" t="t" l="l"/>
              <a:pathLst>
                <a:path h="6431153" w="6650863">
                  <a:moveTo>
                    <a:pt x="0" y="514477"/>
                  </a:moveTo>
                  <a:cubicBezTo>
                    <a:pt x="0" y="230378"/>
                    <a:pt x="230378" y="0"/>
                    <a:pt x="514477" y="0"/>
                  </a:cubicBezTo>
                  <a:lnTo>
                    <a:pt x="6136386" y="0"/>
                  </a:lnTo>
                  <a:cubicBezTo>
                    <a:pt x="6420485" y="0"/>
                    <a:pt x="6650863" y="230378"/>
                    <a:pt x="6650863" y="514477"/>
                  </a:cubicBezTo>
                  <a:lnTo>
                    <a:pt x="6650863" y="5916676"/>
                  </a:lnTo>
                  <a:cubicBezTo>
                    <a:pt x="6650863" y="6200775"/>
                    <a:pt x="6420485" y="6431153"/>
                    <a:pt x="6136386" y="6431153"/>
                  </a:cubicBezTo>
                  <a:lnTo>
                    <a:pt x="514477" y="6431153"/>
                  </a:lnTo>
                  <a:cubicBezTo>
                    <a:pt x="230378" y="6431280"/>
                    <a:pt x="0" y="6200902"/>
                    <a:pt x="0" y="59166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3010348"/>
            <a:ext cx="115148" cy="4823422"/>
            <a:chOff x="0" y="0"/>
            <a:chExt cx="153530" cy="64312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431280"/>
            </a:xfrm>
            <a:custGeom>
              <a:avLst/>
              <a:gdLst/>
              <a:ahLst/>
              <a:cxnLst/>
              <a:rect r="r" b="b" t="t" l="l"/>
              <a:pathLst>
                <a:path h="643128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431280"/>
                  </a:lnTo>
                  <a:lnTo>
                    <a:pt x="0" y="6431280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RESIDENTS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43461"/>
            <a:ext cx="4337685" cy="37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Choose devices and usage levels without building a spreadsheet.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42024" y="3010348"/>
            <a:ext cx="4988138" cy="4823422"/>
            <a:chOff x="0" y="0"/>
            <a:chExt cx="6650850" cy="6431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50863" cy="6431153"/>
            </a:xfrm>
            <a:custGeom>
              <a:avLst/>
              <a:gdLst/>
              <a:ahLst/>
              <a:cxnLst/>
              <a:rect r="r" b="b" t="t" l="l"/>
              <a:pathLst>
                <a:path h="6431153" w="6650863">
                  <a:moveTo>
                    <a:pt x="0" y="514477"/>
                  </a:moveTo>
                  <a:cubicBezTo>
                    <a:pt x="0" y="230378"/>
                    <a:pt x="230378" y="0"/>
                    <a:pt x="514477" y="0"/>
                  </a:cubicBezTo>
                  <a:lnTo>
                    <a:pt x="6136386" y="0"/>
                  </a:lnTo>
                  <a:cubicBezTo>
                    <a:pt x="6420485" y="0"/>
                    <a:pt x="6650863" y="230378"/>
                    <a:pt x="6650863" y="514477"/>
                  </a:cubicBezTo>
                  <a:lnTo>
                    <a:pt x="6650863" y="5916676"/>
                  </a:lnTo>
                  <a:cubicBezTo>
                    <a:pt x="6650863" y="6200775"/>
                    <a:pt x="6420485" y="6431153"/>
                    <a:pt x="6136386" y="6431153"/>
                  </a:cubicBezTo>
                  <a:lnTo>
                    <a:pt x="514477" y="6431153"/>
                  </a:lnTo>
                  <a:cubicBezTo>
                    <a:pt x="230378" y="6431280"/>
                    <a:pt x="0" y="6200902"/>
                    <a:pt x="0" y="59166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42024" y="3010348"/>
            <a:ext cx="115148" cy="4823422"/>
            <a:chOff x="0" y="0"/>
            <a:chExt cx="153530" cy="64312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6431280"/>
            </a:xfrm>
            <a:custGeom>
              <a:avLst/>
              <a:gdLst/>
              <a:ahLst/>
              <a:cxnLst/>
              <a:rect r="r" b="b" t="t" l="l"/>
              <a:pathLst>
                <a:path h="643128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431280"/>
                  </a:lnTo>
                  <a:lnTo>
                    <a:pt x="0" y="6431280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808432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ENERGY-CONSCIOUS HOUSEHOLDS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08432" y="3843461"/>
            <a:ext cx="4337685" cy="37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See which appliance to optimize first and what a reduction could change.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38622" y="3010348"/>
            <a:ext cx="4988138" cy="4823422"/>
            <a:chOff x="0" y="0"/>
            <a:chExt cx="6650850" cy="64312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0863" cy="6431153"/>
            </a:xfrm>
            <a:custGeom>
              <a:avLst/>
              <a:gdLst/>
              <a:ahLst/>
              <a:cxnLst/>
              <a:rect r="r" b="b" t="t" l="l"/>
              <a:pathLst>
                <a:path h="6431153" w="6650863">
                  <a:moveTo>
                    <a:pt x="0" y="514477"/>
                  </a:moveTo>
                  <a:cubicBezTo>
                    <a:pt x="0" y="230378"/>
                    <a:pt x="230378" y="0"/>
                    <a:pt x="514477" y="0"/>
                  </a:cubicBezTo>
                  <a:lnTo>
                    <a:pt x="6136386" y="0"/>
                  </a:lnTo>
                  <a:cubicBezTo>
                    <a:pt x="6420485" y="0"/>
                    <a:pt x="6650863" y="230378"/>
                    <a:pt x="6650863" y="514477"/>
                  </a:cubicBezTo>
                  <a:lnTo>
                    <a:pt x="6650863" y="5916676"/>
                  </a:lnTo>
                  <a:cubicBezTo>
                    <a:pt x="6650863" y="6200775"/>
                    <a:pt x="6420485" y="6431153"/>
                    <a:pt x="6136386" y="6431153"/>
                  </a:cubicBezTo>
                  <a:lnTo>
                    <a:pt x="514477" y="6431153"/>
                  </a:lnTo>
                  <a:cubicBezTo>
                    <a:pt x="230378" y="6431280"/>
                    <a:pt x="0" y="6200902"/>
                    <a:pt x="0" y="59166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8622" y="3010348"/>
            <a:ext cx="115148" cy="4823422"/>
            <a:chOff x="0" y="0"/>
            <a:chExt cx="153530" cy="64312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543" cy="6431280"/>
            </a:xfrm>
            <a:custGeom>
              <a:avLst/>
              <a:gdLst/>
              <a:ahLst/>
              <a:cxnLst/>
              <a:rect r="r" b="b" t="t" l="l"/>
              <a:pathLst>
                <a:path h="643128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431280"/>
                  </a:lnTo>
                  <a:lnTo>
                    <a:pt x="0" y="6431280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505020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PRODUCT TEAMS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05020" y="3843461"/>
            <a:ext cx="4337685" cy="37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Turn a model pipeline into an understandable user journey.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2403" y="8647814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AUDIENCE FRAMING / PROJECT BRIEF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SHEA/THE OPERATING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05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04 / HOW THE PROJECT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From a few inputs to a decision path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14259"/>
            <a:ext cx="5029324" cy="1872177"/>
            <a:chOff x="0" y="0"/>
            <a:chExt cx="6705765" cy="24962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5726" cy="2496058"/>
            </a:xfrm>
            <a:custGeom>
              <a:avLst/>
              <a:gdLst/>
              <a:ahLst/>
              <a:cxnLst/>
              <a:rect r="r" b="b" t="t" l="l"/>
              <a:pathLst>
                <a:path h="2496058" w="6705726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6506083" y="0"/>
                  </a:lnTo>
                  <a:cubicBezTo>
                    <a:pt x="6616319" y="0"/>
                    <a:pt x="6705726" y="89408"/>
                    <a:pt x="6705726" y="199644"/>
                  </a:cubicBezTo>
                  <a:lnTo>
                    <a:pt x="6705726" y="2296414"/>
                  </a:lnTo>
                  <a:cubicBezTo>
                    <a:pt x="6705726" y="2406650"/>
                    <a:pt x="6616319" y="2496058"/>
                    <a:pt x="6506083" y="2496058"/>
                  </a:cubicBezTo>
                  <a:lnTo>
                    <a:pt x="199644" y="2496058"/>
                  </a:lnTo>
                  <a:cubicBezTo>
                    <a:pt x="89408" y="2496185"/>
                    <a:pt x="0" y="2406777"/>
                    <a:pt x="0" y="2296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914259"/>
            <a:ext cx="115148" cy="1872177"/>
            <a:chOff x="0" y="0"/>
            <a:chExt cx="153530" cy="2496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2496185"/>
            </a:xfrm>
            <a:custGeom>
              <a:avLst/>
              <a:gdLst/>
              <a:ahLst/>
              <a:cxnLst/>
              <a:rect r="r" b="b" t="t" l="l"/>
              <a:pathLst>
                <a:path h="249618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496185"/>
                  </a:lnTo>
                  <a:lnTo>
                    <a:pt x="0" y="249618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216231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CHOOSE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747373"/>
            <a:ext cx="4378871" cy="7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Appliance + level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71108" y="3706197"/>
            <a:ext cx="42556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69485" y="2914259"/>
            <a:ext cx="5029324" cy="1872177"/>
            <a:chOff x="0" y="0"/>
            <a:chExt cx="6705765" cy="2496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5726" cy="2496058"/>
            </a:xfrm>
            <a:custGeom>
              <a:avLst/>
              <a:gdLst/>
              <a:ahLst/>
              <a:cxnLst/>
              <a:rect r="r" b="b" t="t" l="l"/>
              <a:pathLst>
                <a:path h="2496058" w="6705726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6506083" y="0"/>
                  </a:lnTo>
                  <a:cubicBezTo>
                    <a:pt x="6616319" y="0"/>
                    <a:pt x="6705726" y="89408"/>
                    <a:pt x="6705726" y="199644"/>
                  </a:cubicBezTo>
                  <a:lnTo>
                    <a:pt x="6705726" y="2296414"/>
                  </a:lnTo>
                  <a:cubicBezTo>
                    <a:pt x="6705726" y="2406650"/>
                    <a:pt x="6616319" y="2496058"/>
                    <a:pt x="6506083" y="2496058"/>
                  </a:cubicBezTo>
                  <a:lnTo>
                    <a:pt x="199644" y="2496058"/>
                  </a:lnTo>
                  <a:cubicBezTo>
                    <a:pt x="89408" y="2496185"/>
                    <a:pt x="0" y="2406777"/>
                    <a:pt x="0" y="2296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69485" y="2914259"/>
            <a:ext cx="115148" cy="1872177"/>
            <a:chOff x="0" y="0"/>
            <a:chExt cx="153530" cy="24962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2496185"/>
            </a:xfrm>
            <a:custGeom>
              <a:avLst/>
              <a:gdLst/>
              <a:ahLst/>
              <a:cxnLst/>
              <a:rect r="r" b="b" t="t" l="l"/>
              <a:pathLst>
                <a:path h="249618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496185"/>
                  </a:lnTo>
                  <a:lnTo>
                    <a:pt x="0" y="249618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35883" y="3216231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ENCODE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5883" y="3747373"/>
            <a:ext cx="4378871" cy="7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Context + metadata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95147" y="3706197"/>
            <a:ext cx="42556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93524" y="2914259"/>
            <a:ext cx="5029324" cy="1872177"/>
            <a:chOff x="0" y="0"/>
            <a:chExt cx="6705765" cy="2496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726" cy="2496058"/>
            </a:xfrm>
            <a:custGeom>
              <a:avLst/>
              <a:gdLst/>
              <a:ahLst/>
              <a:cxnLst/>
              <a:rect r="r" b="b" t="t" l="l"/>
              <a:pathLst>
                <a:path h="2496058" w="6705726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6506083" y="0"/>
                  </a:lnTo>
                  <a:cubicBezTo>
                    <a:pt x="6616319" y="0"/>
                    <a:pt x="6705726" y="89408"/>
                    <a:pt x="6705726" y="199644"/>
                  </a:cubicBezTo>
                  <a:lnTo>
                    <a:pt x="6705726" y="2296414"/>
                  </a:lnTo>
                  <a:cubicBezTo>
                    <a:pt x="6705726" y="2406650"/>
                    <a:pt x="6616319" y="2496058"/>
                    <a:pt x="6506083" y="2496058"/>
                  </a:cubicBezTo>
                  <a:lnTo>
                    <a:pt x="199644" y="2496058"/>
                  </a:lnTo>
                  <a:cubicBezTo>
                    <a:pt x="89408" y="2496185"/>
                    <a:pt x="0" y="2406777"/>
                    <a:pt x="0" y="2296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193524" y="2914259"/>
            <a:ext cx="115148" cy="1872177"/>
            <a:chOff x="0" y="0"/>
            <a:chExt cx="153530" cy="24962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543" cy="2496185"/>
            </a:xfrm>
            <a:custGeom>
              <a:avLst/>
              <a:gdLst/>
              <a:ahLst/>
              <a:cxnLst/>
              <a:rect r="r" b="b" t="t" l="l"/>
              <a:pathLst>
                <a:path h="249618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496185"/>
                  </a:lnTo>
                  <a:lnTo>
                    <a:pt x="0" y="249618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559932" y="3216231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03 / PREDICT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59932" y="3747373"/>
            <a:ext cx="4378871" cy="7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Device kWh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45436" y="5385073"/>
            <a:ext cx="5029324" cy="1872177"/>
            <a:chOff x="0" y="0"/>
            <a:chExt cx="6705765" cy="24962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726" cy="2496058"/>
            </a:xfrm>
            <a:custGeom>
              <a:avLst/>
              <a:gdLst/>
              <a:ahLst/>
              <a:cxnLst/>
              <a:rect r="r" b="b" t="t" l="l"/>
              <a:pathLst>
                <a:path h="2496058" w="6705726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6506083" y="0"/>
                  </a:lnTo>
                  <a:cubicBezTo>
                    <a:pt x="6616319" y="0"/>
                    <a:pt x="6705726" y="89408"/>
                    <a:pt x="6705726" y="199644"/>
                  </a:cubicBezTo>
                  <a:lnTo>
                    <a:pt x="6705726" y="2296414"/>
                  </a:lnTo>
                  <a:cubicBezTo>
                    <a:pt x="6705726" y="2406650"/>
                    <a:pt x="6616319" y="2496058"/>
                    <a:pt x="6506083" y="2496058"/>
                  </a:cubicBezTo>
                  <a:lnTo>
                    <a:pt x="199644" y="2496058"/>
                  </a:lnTo>
                  <a:cubicBezTo>
                    <a:pt x="89408" y="2496185"/>
                    <a:pt x="0" y="2406777"/>
                    <a:pt x="0" y="2296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5436" y="5385073"/>
            <a:ext cx="115148" cy="1872177"/>
            <a:chOff x="0" y="0"/>
            <a:chExt cx="153530" cy="24962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3543" cy="2496185"/>
            </a:xfrm>
            <a:custGeom>
              <a:avLst/>
              <a:gdLst/>
              <a:ahLst/>
              <a:cxnLst/>
              <a:rect r="r" b="b" t="t" l="l"/>
              <a:pathLst>
                <a:path h="249618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496185"/>
                  </a:lnTo>
                  <a:lnTo>
                    <a:pt x="0" y="249618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11844" y="5687044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04 / TRANSLATE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1844" y="6218187"/>
            <a:ext cx="4378871" cy="7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Tariff + budget status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71108" y="6177001"/>
            <a:ext cx="42556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469485" y="5385073"/>
            <a:ext cx="5029324" cy="1872177"/>
            <a:chOff x="0" y="0"/>
            <a:chExt cx="6705765" cy="24962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05726" cy="2496058"/>
            </a:xfrm>
            <a:custGeom>
              <a:avLst/>
              <a:gdLst/>
              <a:ahLst/>
              <a:cxnLst/>
              <a:rect r="r" b="b" t="t" l="l"/>
              <a:pathLst>
                <a:path h="2496058" w="6705726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6506083" y="0"/>
                  </a:lnTo>
                  <a:cubicBezTo>
                    <a:pt x="6616319" y="0"/>
                    <a:pt x="6705726" y="89408"/>
                    <a:pt x="6705726" y="199644"/>
                  </a:cubicBezTo>
                  <a:lnTo>
                    <a:pt x="6705726" y="2296414"/>
                  </a:lnTo>
                  <a:cubicBezTo>
                    <a:pt x="6705726" y="2406650"/>
                    <a:pt x="6616319" y="2496058"/>
                    <a:pt x="6506083" y="2496058"/>
                  </a:cubicBezTo>
                  <a:lnTo>
                    <a:pt x="199644" y="2496058"/>
                  </a:lnTo>
                  <a:cubicBezTo>
                    <a:pt x="89408" y="2496185"/>
                    <a:pt x="0" y="2406777"/>
                    <a:pt x="0" y="2296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469485" y="5385073"/>
            <a:ext cx="115148" cy="1872177"/>
            <a:chOff x="0" y="0"/>
            <a:chExt cx="153530" cy="24962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543" cy="2496185"/>
            </a:xfrm>
            <a:custGeom>
              <a:avLst/>
              <a:gdLst/>
              <a:ahLst/>
              <a:cxnLst/>
              <a:rect r="r" b="b" t="t" l="l"/>
              <a:pathLst>
                <a:path h="249618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496185"/>
                  </a:lnTo>
                  <a:lnTo>
                    <a:pt x="0" y="249618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6835883" y="5687044"/>
            <a:ext cx="43788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05 / RECOMMEND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35883" y="6218187"/>
            <a:ext cx="4378871" cy="7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Action + what-if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2403" y="8647814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DEPLOYMENT CODE / APP.PY + ADVISOR_LOGIC.PY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SHEA/EVIDENCE 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06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05 / THE THREE DATASETS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Three sources, three jobs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4988138" cy="5441118"/>
            <a:chOff x="0" y="0"/>
            <a:chExt cx="6650850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990" cy="7254875"/>
            </a:xfrm>
            <a:custGeom>
              <a:avLst/>
              <a:gdLst/>
              <a:ahLst/>
              <a:cxnLst/>
              <a:rect r="r" b="b" t="t" l="l"/>
              <a:pathLst>
                <a:path h="7254875" w="6650990">
                  <a:moveTo>
                    <a:pt x="0" y="532130"/>
                  </a:moveTo>
                  <a:cubicBezTo>
                    <a:pt x="0" y="238252"/>
                    <a:pt x="238252" y="0"/>
                    <a:pt x="532130" y="0"/>
                  </a:cubicBezTo>
                  <a:lnTo>
                    <a:pt x="6118860" y="0"/>
                  </a:lnTo>
                  <a:cubicBezTo>
                    <a:pt x="6412738" y="0"/>
                    <a:pt x="6650990" y="238252"/>
                    <a:pt x="6650990" y="532130"/>
                  </a:cubicBezTo>
                  <a:lnTo>
                    <a:pt x="6650990" y="6722745"/>
                  </a:lnTo>
                  <a:cubicBezTo>
                    <a:pt x="6650990" y="7016623"/>
                    <a:pt x="6412738" y="7254875"/>
                    <a:pt x="6118860" y="7254875"/>
                  </a:cubicBezTo>
                  <a:lnTo>
                    <a:pt x="532130" y="7254875"/>
                  </a:lnTo>
                  <a:cubicBezTo>
                    <a:pt x="238252" y="7254875"/>
                    <a:pt x="0" y="7016623"/>
                    <a:pt x="0" y="672274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45622"/>
            <a:ext cx="115148" cy="5441118"/>
            <a:chOff x="0" y="0"/>
            <a:chExt cx="153530" cy="7254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7254875"/>
            </a:xfrm>
            <a:custGeom>
              <a:avLst/>
              <a:gdLst/>
              <a:ahLst/>
              <a:cxnLst/>
              <a:rect r="r" b="b" t="t" l="l"/>
              <a:pathLst>
                <a:path h="725487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254875"/>
                  </a:lnTo>
                  <a:lnTo>
                    <a:pt x="0" y="725487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47603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DATASET 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78736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100k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433707"/>
            <a:ext cx="4337685" cy="356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Smart home energy consumption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rows / 8 columns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Observed appliance consumption, time, date, temperature, season, household size.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42024" y="2845622"/>
            <a:ext cx="4988138" cy="5441118"/>
            <a:chOff x="0" y="0"/>
            <a:chExt cx="6650850" cy="7254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0990" cy="7254875"/>
            </a:xfrm>
            <a:custGeom>
              <a:avLst/>
              <a:gdLst/>
              <a:ahLst/>
              <a:cxnLst/>
              <a:rect r="r" b="b" t="t" l="l"/>
              <a:pathLst>
                <a:path h="7254875" w="6650990">
                  <a:moveTo>
                    <a:pt x="0" y="532130"/>
                  </a:moveTo>
                  <a:cubicBezTo>
                    <a:pt x="0" y="238252"/>
                    <a:pt x="238252" y="0"/>
                    <a:pt x="532130" y="0"/>
                  </a:cubicBezTo>
                  <a:lnTo>
                    <a:pt x="6118860" y="0"/>
                  </a:lnTo>
                  <a:cubicBezTo>
                    <a:pt x="6412738" y="0"/>
                    <a:pt x="6650990" y="238252"/>
                    <a:pt x="6650990" y="532130"/>
                  </a:cubicBezTo>
                  <a:lnTo>
                    <a:pt x="6650990" y="6722745"/>
                  </a:lnTo>
                  <a:cubicBezTo>
                    <a:pt x="6650990" y="7016623"/>
                    <a:pt x="6412738" y="7254875"/>
                    <a:pt x="6118860" y="7254875"/>
                  </a:cubicBezTo>
                  <a:lnTo>
                    <a:pt x="532130" y="7254875"/>
                  </a:lnTo>
                  <a:cubicBezTo>
                    <a:pt x="238252" y="7254875"/>
                    <a:pt x="0" y="7016623"/>
                    <a:pt x="0" y="672274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42024" y="2845622"/>
            <a:ext cx="115148" cy="5441118"/>
            <a:chOff x="0" y="0"/>
            <a:chExt cx="153530" cy="7254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7254875"/>
            </a:xfrm>
            <a:custGeom>
              <a:avLst/>
              <a:gdLst/>
              <a:ahLst/>
              <a:cxnLst/>
              <a:rect r="r" b="b" t="t" l="l"/>
              <a:pathLst>
                <a:path h="725487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254875"/>
                  </a:lnTo>
                  <a:lnTo>
                    <a:pt x="0" y="7254875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08432" y="3147603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DATASET 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8432" y="3678736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1m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8432" y="4433707"/>
            <a:ext cx="4337685" cy="356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Smart home energy usage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rows / 10 columns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Usage duration, occupancy, season, day of week, holiday, appliance category.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38622" y="2845622"/>
            <a:ext cx="4988138" cy="5441118"/>
            <a:chOff x="0" y="0"/>
            <a:chExt cx="6650850" cy="7254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0990" cy="7254875"/>
            </a:xfrm>
            <a:custGeom>
              <a:avLst/>
              <a:gdLst/>
              <a:ahLst/>
              <a:cxnLst/>
              <a:rect r="r" b="b" t="t" l="l"/>
              <a:pathLst>
                <a:path h="7254875" w="6650990">
                  <a:moveTo>
                    <a:pt x="0" y="532130"/>
                  </a:moveTo>
                  <a:cubicBezTo>
                    <a:pt x="0" y="238252"/>
                    <a:pt x="238252" y="0"/>
                    <a:pt x="532130" y="0"/>
                  </a:cubicBezTo>
                  <a:lnTo>
                    <a:pt x="6118860" y="0"/>
                  </a:lnTo>
                  <a:cubicBezTo>
                    <a:pt x="6412738" y="0"/>
                    <a:pt x="6650990" y="238252"/>
                    <a:pt x="6650990" y="532130"/>
                  </a:cubicBezTo>
                  <a:lnTo>
                    <a:pt x="6650990" y="6722745"/>
                  </a:lnTo>
                  <a:cubicBezTo>
                    <a:pt x="6650990" y="7016623"/>
                    <a:pt x="6412738" y="7254875"/>
                    <a:pt x="6118860" y="7254875"/>
                  </a:cubicBezTo>
                  <a:lnTo>
                    <a:pt x="532130" y="7254875"/>
                  </a:lnTo>
                  <a:cubicBezTo>
                    <a:pt x="238252" y="7254875"/>
                    <a:pt x="0" y="7016623"/>
                    <a:pt x="0" y="672274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138622" y="2845622"/>
            <a:ext cx="115148" cy="5441118"/>
            <a:chOff x="0" y="0"/>
            <a:chExt cx="153530" cy="7254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543" cy="7254875"/>
            </a:xfrm>
            <a:custGeom>
              <a:avLst/>
              <a:gdLst/>
              <a:ahLst/>
              <a:cxnLst/>
              <a:rect r="r" b="b" t="t" l="l"/>
              <a:pathLst>
                <a:path h="725487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254875"/>
                  </a:lnTo>
                  <a:lnTo>
                    <a:pt x="0" y="725487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505020" y="3147603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DATASET 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5020" y="3678736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33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05020" y="4433707"/>
            <a:ext cx="4337685" cy="356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Selected appliance metadata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records / 10 raw fields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Power limits, availability, appliance names, and categories.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2403" y="8675265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OUTPUTS / DATASETS 1–3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SHEA/EVIDENCE 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07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06 / DATA QUALITY SNAPSHOT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The source data is complete enough to model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037799"/>
            <a:ext cx="4988138" cy="4933236"/>
            <a:chOff x="0" y="0"/>
            <a:chExt cx="6650850" cy="6577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863" cy="6577584"/>
            </a:xfrm>
            <a:custGeom>
              <a:avLst/>
              <a:gdLst/>
              <a:ahLst/>
              <a:cxnLst/>
              <a:rect r="r" b="b" t="t" l="l"/>
              <a:pathLst>
                <a:path h="6577584" w="6650863">
                  <a:moveTo>
                    <a:pt x="0" y="526161"/>
                  </a:moveTo>
                  <a:cubicBezTo>
                    <a:pt x="0" y="235585"/>
                    <a:pt x="235585" y="0"/>
                    <a:pt x="526161" y="0"/>
                  </a:cubicBezTo>
                  <a:lnTo>
                    <a:pt x="6124702" y="0"/>
                  </a:lnTo>
                  <a:cubicBezTo>
                    <a:pt x="6415278" y="0"/>
                    <a:pt x="6650863" y="235585"/>
                    <a:pt x="6650863" y="526161"/>
                  </a:cubicBezTo>
                  <a:lnTo>
                    <a:pt x="6650863" y="6051423"/>
                  </a:lnTo>
                  <a:cubicBezTo>
                    <a:pt x="6650863" y="6341999"/>
                    <a:pt x="6415278" y="6577584"/>
                    <a:pt x="6124702" y="6577584"/>
                  </a:cubicBezTo>
                  <a:lnTo>
                    <a:pt x="526161" y="6577584"/>
                  </a:lnTo>
                  <a:cubicBezTo>
                    <a:pt x="235585" y="6577584"/>
                    <a:pt x="0" y="6341999"/>
                    <a:pt x="0" y="605142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3037799"/>
            <a:ext cx="115148" cy="4933236"/>
            <a:chOff x="0" y="0"/>
            <a:chExt cx="153530" cy="6577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577584"/>
            </a:xfrm>
            <a:custGeom>
              <a:avLst/>
              <a:gdLst/>
              <a:ahLst/>
              <a:cxnLst/>
              <a:rect r="r" b="b" t="t" l="l"/>
              <a:pathLst>
                <a:path h="657758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77584"/>
                  </a:lnTo>
                  <a:lnTo>
                    <a:pt x="0" y="657758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339770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missing values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70912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625883"/>
            <a:ext cx="4337685" cy="30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Dataset 1, Dataset 2, and Dataset 3 after the notebook checks.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42024" y="3037799"/>
            <a:ext cx="4988138" cy="4933236"/>
            <a:chOff x="0" y="0"/>
            <a:chExt cx="6650850" cy="65776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0863" cy="6577584"/>
            </a:xfrm>
            <a:custGeom>
              <a:avLst/>
              <a:gdLst/>
              <a:ahLst/>
              <a:cxnLst/>
              <a:rect r="r" b="b" t="t" l="l"/>
              <a:pathLst>
                <a:path h="6577584" w="6650863">
                  <a:moveTo>
                    <a:pt x="0" y="526161"/>
                  </a:moveTo>
                  <a:cubicBezTo>
                    <a:pt x="0" y="235585"/>
                    <a:pt x="235585" y="0"/>
                    <a:pt x="526161" y="0"/>
                  </a:cubicBezTo>
                  <a:lnTo>
                    <a:pt x="6124702" y="0"/>
                  </a:lnTo>
                  <a:cubicBezTo>
                    <a:pt x="6415278" y="0"/>
                    <a:pt x="6650863" y="235585"/>
                    <a:pt x="6650863" y="526161"/>
                  </a:cubicBezTo>
                  <a:lnTo>
                    <a:pt x="6650863" y="6051423"/>
                  </a:lnTo>
                  <a:cubicBezTo>
                    <a:pt x="6650863" y="6341999"/>
                    <a:pt x="6415278" y="6577584"/>
                    <a:pt x="6124702" y="6577584"/>
                  </a:cubicBezTo>
                  <a:lnTo>
                    <a:pt x="526161" y="6577584"/>
                  </a:lnTo>
                  <a:cubicBezTo>
                    <a:pt x="235585" y="6577584"/>
                    <a:pt x="0" y="6341999"/>
                    <a:pt x="0" y="605142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42024" y="3037799"/>
            <a:ext cx="115148" cy="4933236"/>
            <a:chOff x="0" y="0"/>
            <a:chExt cx="153530" cy="65776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6577584"/>
            </a:xfrm>
            <a:custGeom>
              <a:avLst/>
              <a:gdLst/>
              <a:ahLst/>
              <a:cxnLst/>
              <a:rect r="r" b="b" t="t" l="l"/>
              <a:pathLst>
                <a:path h="657758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77584"/>
                  </a:lnTo>
                  <a:lnTo>
                    <a:pt x="0" y="6577584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08432" y="3339770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exact duplicates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8432" y="3870912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8432" y="4625883"/>
            <a:ext cx="4337685" cy="30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notebook reported no duplicate rows in all three sources.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38622" y="3037799"/>
            <a:ext cx="4988138" cy="4933236"/>
            <a:chOff x="0" y="0"/>
            <a:chExt cx="6650850" cy="65776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0863" cy="6577584"/>
            </a:xfrm>
            <a:custGeom>
              <a:avLst/>
              <a:gdLst/>
              <a:ahLst/>
              <a:cxnLst/>
              <a:rect r="r" b="b" t="t" l="l"/>
              <a:pathLst>
                <a:path h="6577584" w="6650863">
                  <a:moveTo>
                    <a:pt x="0" y="526161"/>
                  </a:moveTo>
                  <a:cubicBezTo>
                    <a:pt x="0" y="235585"/>
                    <a:pt x="235585" y="0"/>
                    <a:pt x="526161" y="0"/>
                  </a:cubicBezTo>
                  <a:lnTo>
                    <a:pt x="6124702" y="0"/>
                  </a:lnTo>
                  <a:cubicBezTo>
                    <a:pt x="6415278" y="0"/>
                    <a:pt x="6650863" y="235585"/>
                    <a:pt x="6650863" y="526161"/>
                  </a:cubicBezTo>
                  <a:lnTo>
                    <a:pt x="6650863" y="6051423"/>
                  </a:lnTo>
                  <a:cubicBezTo>
                    <a:pt x="6650863" y="6341999"/>
                    <a:pt x="6415278" y="6577584"/>
                    <a:pt x="6124702" y="6577584"/>
                  </a:cubicBezTo>
                  <a:lnTo>
                    <a:pt x="526161" y="6577584"/>
                  </a:lnTo>
                  <a:cubicBezTo>
                    <a:pt x="235585" y="6577584"/>
                    <a:pt x="0" y="6341999"/>
                    <a:pt x="0" y="605142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138622" y="3037799"/>
            <a:ext cx="115148" cy="4933236"/>
            <a:chOff x="0" y="0"/>
            <a:chExt cx="153530" cy="65776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543" cy="6577584"/>
            </a:xfrm>
            <a:custGeom>
              <a:avLst/>
              <a:gdLst/>
              <a:ahLst/>
              <a:cxnLst/>
              <a:rect r="r" b="b" t="t" l="l"/>
              <a:pathLst>
                <a:path h="657758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77584"/>
                  </a:lnTo>
                  <a:lnTo>
                    <a:pt x="0" y="657758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505020" y="3339770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Dataset 2 outliers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5020" y="3870912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05020" y="4625883"/>
            <a:ext cx="4337685" cy="30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Per-appliance IQR check: 0 of 1,000,000 rows flagged.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2403" y="8647814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CELLS 5, 32, 164-168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SHEA/TECHNICAL 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A1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NOTEBOOK DATA PROFILE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Scale, quality, and feature readiness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54970" y="2813977"/>
          <a:ext cx="16109836" cy="3507941"/>
        </p:xfrm>
        <a:graphic>
          <a:graphicData uri="http://schemas.openxmlformats.org/drawingml/2006/table">
            <a:tbl>
              <a:tblPr/>
              <a:tblGrid>
                <a:gridCol w="3221967"/>
                <a:gridCol w="3221967"/>
                <a:gridCol w="6766131"/>
                <a:gridCol w="2899770"/>
              </a:tblGrid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Source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Rows × columns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Quality signal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Memory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Dataset 1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100,000 × 8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 missing / 0 duplicates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6.1+ MB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Dataset 2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1,000,000 × 10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 missing / 0 duplicates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76.3+ MB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Dataset 3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33 × 10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13 optional comments missing / 0 duplicates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2.7+ KB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45436" y="6785200"/>
            <a:ext cx="7843295" cy="1460373"/>
            <a:chOff x="0" y="0"/>
            <a:chExt cx="10457726" cy="19471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57815" cy="1947164"/>
            </a:xfrm>
            <a:custGeom>
              <a:avLst/>
              <a:gdLst/>
              <a:ahLst/>
              <a:cxnLst/>
              <a:rect r="r" b="b" t="t" l="l"/>
              <a:pathLst>
                <a:path h="1947164" w="10457815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10301986" y="0"/>
                  </a:lnTo>
                  <a:cubicBezTo>
                    <a:pt x="10387965" y="0"/>
                    <a:pt x="10457815" y="69723"/>
                    <a:pt x="10457815" y="155829"/>
                  </a:cubicBezTo>
                  <a:lnTo>
                    <a:pt x="10457815" y="1791335"/>
                  </a:lnTo>
                  <a:cubicBezTo>
                    <a:pt x="10457815" y="1877314"/>
                    <a:pt x="10388092" y="1947164"/>
                    <a:pt x="10301986" y="1947164"/>
                  </a:cubicBezTo>
                  <a:lnTo>
                    <a:pt x="155829" y="1947164"/>
                  </a:lnTo>
                  <a:cubicBezTo>
                    <a:pt x="69723" y="1947164"/>
                    <a:pt x="0" y="1877441"/>
                    <a:pt x="0" y="17913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5436" y="6785200"/>
            <a:ext cx="115148" cy="1460373"/>
            <a:chOff x="0" y="0"/>
            <a:chExt cx="153530" cy="1947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543" cy="1947164"/>
            </a:xfrm>
            <a:custGeom>
              <a:avLst/>
              <a:gdLst/>
              <a:ahLst/>
              <a:cxnLst/>
              <a:rect r="r" b="b" t="t" l="l"/>
              <a:pathLst>
                <a:path h="194716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947164"/>
                  </a:lnTo>
                  <a:lnTo>
                    <a:pt x="0" y="194716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1844" y="7087171"/>
            <a:ext cx="7192842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DATASET 1 SPLIT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7618314"/>
            <a:ext cx="7192842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80,000 train × 23 features / 20,000 test × 23 features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81475" y="6785200"/>
            <a:ext cx="7939383" cy="1460373"/>
            <a:chOff x="0" y="0"/>
            <a:chExt cx="10585844" cy="19471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85958" cy="1947164"/>
            </a:xfrm>
            <a:custGeom>
              <a:avLst/>
              <a:gdLst/>
              <a:ahLst/>
              <a:cxnLst/>
              <a:rect r="r" b="b" t="t" l="l"/>
              <a:pathLst>
                <a:path h="1947164" w="1058595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10430129" y="0"/>
                  </a:lnTo>
                  <a:cubicBezTo>
                    <a:pt x="10516108" y="0"/>
                    <a:pt x="10585958" y="69723"/>
                    <a:pt x="10585958" y="155829"/>
                  </a:cubicBezTo>
                  <a:lnTo>
                    <a:pt x="10585958" y="1791335"/>
                  </a:lnTo>
                  <a:cubicBezTo>
                    <a:pt x="10585958" y="1877314"/>
                    <a:pt x="10516235" y="1947164"/>
                    <a:pt x="10430129" y="1947164"/>
                  </a:cubicBezTo>
                  <a:lnTo>
                    <a:pt x="155829" y="1947164"/>
                  </a:lnTo>
                  <a:cubicBezTo>
                    <a:pt x="69723" y="1947164"/>
                    <a:pt x="0" y="1877441"/>
                    <a:pt x="0" y="17913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475" y="6785200"/>
            <a:ext cx="115148" cy="1460373"/>
            <a:chOff x="0" y="0"/>
            <a:chExt cx="153530" cy="19471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1947164"/>
            </a:xfrm>
            <a:custGeom>
              <a:avLst/>
              <a:gdLst/>
              <a:ahLst/>
              <a:cxnLst/>
              <a:rect r="r" b="b" t="t" l="l"/>
              <a:pathLst>
                <a:path h="194716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947164"/>
                  </a:lnTo>
                  <a:lnTo>
                    <a:pt x="0" y="194716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347873" y="7087171"/>
            <a:ext cx="728893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DATASET 2 SPLIT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7873" y="7618314"/>
            <a:ext cx="7288930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800,000 train × 21 features / 200,000 test × 21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CELLS 5, 32, 77, 138, 156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SHEA/TECHNICAL 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EDA SIGNALS FROM THE NOTEBOOK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Context variables are weak globally; appliance identity carries the strongest signal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18171"/>
            <a:ext cx="4988138" cy="2764412"/>
            <a:chOff x="0" y="0"/>
            <a:chExt cx="6650850" cy="36858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863" cy="3685921"/>
            </a:xfrm>
            <a:custGeom>
              <a:avLst/>
              <a:gdLst/>
              <a:ahLst/>
              <a:cxnLst/>
              <a:rect r="r" b="b" t="t" l="l"/>
              <a:pathLst>
                <a:path h="3685921" w="6650863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6355969" y="0"/>
                  </a:lnTo>
                  <a:cubicBezTo>
                    <a:pt x="6518783" y="0"/>
                    <a:pt x="6650863" y="132080"/>
                    <a:pt x="6650863" y="294894"/>
                  </a:cubicBezTo>
                  <a:lnTo>
                    <a:pt x="6650863" y="3391027"/>
                  </a:lnTo>
                  <a:cubicBezTo>
                    <a:pt x="6650863" y="3553841"/>
                    <a:pt x="6518783" y="3685921"/>
                    <a:pt x="6355969" y="3685921"/>
                  </a:cubicBezTo>
                  <a:lnTo>
                    <a:pt x="294894" y="3685921"/>
                  </a:lnTo>
                  <a:cubicBezTo>
                    <a:pt x="132080" y="3685921"/>
                    <a:pt x="0" y="3553841"/>
                    <a:pt x="0" y="33910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18171"/>
            <a:ext cx="115148" cy="2764412"/>
            <a:chOff x="0" y="0"/>
            <a:chExt cx="153530" cy="36858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3685921"/>
            </a:xfrm>
            <a:custGeom>
              <a:avLst/>
              <a:gdLst/>
              <a:ahLst/>
              <a:cxnLst/>
              <a:rect r="r" b="b" t="t" l="l"/>
              <a:pathLst>
                <a:path h="3685921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20142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DATASET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51285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0.002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406255"/>
            <a:ext cx="4337685" cy="8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temperature–energy correlation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42024" y="2818171"/>
            <a:ext cx="4988138" cy="2764412"/>
            <a:chOff x="0" y="0"/>
            <a:chExt cx="6650850" cy="36858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0863" cy="3685921"/>
            </a:xfrm>
            <a:custGeom>
              <a:avLst/>
              <a:gdLst/>
              <a:ahLst/>
              <a:cxnLst/>
              <a:rect r="r" b="b" t="t" l="l"/>
              <a:pathLst>
                <a:path h="3685921" w="6650863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6355969" y="0"/>
                  </a:lnTo>
                  <a:cubicBezTo>
                    <a:pt x="6518783" y="0"/>
                    <a:pt x="6650863" y="132080"/>
                    <a:pt x="6650863" y="294894"/>
                  </a:cubicBezTo>
                  <a:lnTo>
                    <a:pt x="6650863" y="3391027"/>
                  </a:lnTo>
                  <a:cubicBezTo>
                    <a:pt x="6650863" y="3553841"/>
                    <a:pt x="6518783" y="3685921"/>
                    <a:pt x="6355969" y="3685921"/>
                  </a:cubicBezTo>
                  <a:lnTo>
                    <a:pt x="294894" y="3685921"/>
                  </a:lnTo>
                  <a:cubicBezTo>
                    <a:pt x="132080" y="3685921"/>
                    <a:pt x="0" y="3553841"/>
                    <a:pt x="0" y="33910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42024" y="2818171"/>
            <a:ext cx="115148" cy="2764412"/>
            <a:chOff x="0" y="0"/>
            <a:chExt cx="153530" cy="36858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3685921"/>
            </a:xfrm>
            <a:custGeom>
              <a:avLst/>
              <a:gdLst/>
              <a:ahLst/>
              <a:cxnLst/>
              <a:rect r="r" b="b" t="t" l="l"/>
              <a:pathLst>
                <a:path h="3685921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08432" y="3120142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DATASET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8432" y="3651285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−0.0065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8432" y="4406255"/>
            <a:ext cx="4337685" cy="8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household-size–energy correlation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38622" y="2818171"/>
            <a:ext cx="4988138" cy="2764412"/>
            <a:chOff x="0" y="0"/>
            <a:chExt cx="6650850" cy="36858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0863" cy="3685921"/>
            </a:xfrm>
            <a:custGeom>
              <a:avLst/>
              <a:gdLst/>
              <a:ahLst/>
              <a:cxnLst/>
              <a:rect r="r" b="b" t="t" l="l"/>
              <a:pathLst>
                <a:path h="3685921" w="6650863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6355969" y="0"/>
                  </a:lnTo>
                  <a:cubicBezTo>
                    <a:pt x="6518783" y="0"/>
                    <a:pt x="6650863" y="132080"/>
                    <a:pt x="6650863" y="294894"/>
                  </a:cubicBezTo>
                  <a:lnTo>
                    <a:pt x="6650863" y="3391027"/>
                  </a:lnTo>
                  <a:cubicBezTo>
                    <a:pt x="6650863" y="3553841"/>
                    <a:pt x="6518783" y="3685921"/>
                    <a:pt x="6355969" y="3685921"/>
                  </a:cubicBezTo>
                  <a:lnTo>
                    <a:pt x="294894" y="3685921"/>
                  </a:lnTo>
                  <a:cubicBezTo>
                    <a:pt x="132080" y="3685921"/>
                    <a:pt x="0" y="3553841"/>
                    <a:pt x="0" y="33910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138622" y="2818171"/>
            <a:ext cx="115148" cy="2764412"/>
            <a:chOff x="0" y="0"/>
            <a:chExt cx="153530" cy="36858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543" cy="3685921"/>
            </a:xfrm>
            <a:custGeom>
              <a:avLst/>
              <a:gdLst/>
              <a:ahLst/>
              <a:cxnLst/>
              <a:rect r="r" b="b" t="t" l="l"/>
              <a:pathLst>
                <a:path h="3685921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505020" y="3120142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DATASET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5020" y="3651285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0.0005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05020" y="4406255"/>
            <a:ext cx="4337685" cy="89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usage-duration–energy correlation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45436" y="5961593"/>
            <a:ext cx="7843295" cy="2187883"/>
            <a:chOff x="0" y="0"/>
            <a:chExt cx="10457726" cy="29171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57815" cy="2917190"/>
            </a:xfrm>
            <a:custGeom>
              <a:avLst/>
              <a:gdLst/>
              <a:ahLst/>
              <a:cxnLst/>
              <a:rect r="r" b="b" t="t" l="l"/>
              <a:pathLst>
                <a:path h="2917190" w="10457815">
                  <a:moveTo>
                    <a:pt x="0" y="233426"/>
                  </a:moveTo>
                  <a:cubicBezTo>
                    <a:pt x="0" y="104521"/>
                    <a:pt x="104521" y="0"/>
                    <a:pt x="233426" y="0"/>
                  </a:cubicBezTo>
                  <a:lnTo>
                    <a:pt x="10224389" y="0"/>
                  </a:lnTo>
                  <a:cubicBezTo>
                    <a:pt x="10353294" y="0"/>
                    <a:pt x="10457815" y="104521"/>
                    <a:pt x="10457815" y="233426"/>
                  </a:cubicBezTo>
                  <a:lnTo>
                    <a:pt x="10457815" y="2683764"/>
                  </a:lnTo>
                  <a:cubicBezTo>
                    <a:pt x="10457815" y="2812669"/>
                    <a:pt x="10353294" y="2917190"/>
                    <a:pt x="10224389" y="2917190"/>
                  </a:cubicBezTo>
                  <a:lnTo>
                    <a:pt x="233426" y="2917190"/>
                  </a:lnTo>
                  <a:cubicBezTo>
                    <a:pt x="104521" y="2917190"/>
                    <a:pt x="0" y="2812669"/>
                    <a:pt x="0" y="26837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45436" y="5961593"/>
            <a:ext cx="115148" cy="2187883"/>
            <a:chOff x="0" y="0"/>
            <a:chExt cx="153530" cy="29171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543" cy="2917190"/>
            </a:xfrm>
            <a:custGeom>
              <a:avLst/>
              <a:gdLst/>
              <a:ahLst/>
              <a:cxnLst/>
              <a:rect r="r" b="b" t="t" l="l"/>
              <a:pathLst>
                <a:path h="291719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917190"/>
                  </a:lnTo>
                  <a:lnTo>
                    <a:pt x="0" y="2917190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111844" y="6263564"/>
            <a:ext cx="7192842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DATASET 1 IQR REVIEW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1844" y="6794706"/>
            <a:ext cx="7192842" cy="107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7,997 rows / 7.997% flagged globally; appliance-level ranges explain the high-consumption heating and cooling records.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981475" y="5961593"/>
            <a:ext cx="7939383" cy="2187883"/>
            <a:chOff x="0" y="0"/>
            <a:chExt cx="10585844" cy="29171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85958" cy="2917190"/>
            </a:xfrm>
            <a:custGeom>
              <a:avLst/>
              <a:gdLst/>
              <a:ahLst/>
              <a:cxnLst/>
              <a:rect r="r" b="b" t="t" l="l"/>
              <a:pathLst>
                <a:path h="2917190" w="10585958">
                  <a:moveTo>
                    <a:pt x="0" y="233426"/>
                  </a:moveTo>
                  <a:cubicBezTo>
                    <a:pt x="0" y="104521"/>
                    <a:pt x="104521" y="0"/>
                    <a:pt x="233426" y="0"/>
                  </a:cubicBezTo>
                  <a:lnTo>
                    <a:pt x="10352532" y="0"/>
                  </a:lnTo>
                  <a:cubicBezTo>
                    <a:pt x="10481437" y="0"/>
                    <a:pt x="10585958" y="104521"/>
                    <a:pt x="10585958" y="233426"/>
                  </a:cubicBezTo>
                  <a:lnTo>
                    <a:pt x="10585958" y="2683764"/>
                  </a:lnTo>
                  <a:cubicBezTo>
                    <a:pt x="10585958" y="2812669"/>
                    <a:pt x="10481437" y="2917190"/>
                    <a:pt x="10352532" y="2917190"/>
                  </a:cubicBezTo>
                  <a:lnTo>
                    <a:pt x="233426" y="2917190"/>
                  </a:lnTo>
                  <a:cubicBezTo>
                    <a:pt x="104521" y="2917190"/>
                    <a:pt x="0" y="2812669"/>
                    <a:pt x="0" y="26837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81475" y="5961593"/>
            <a:ext cx="115148" cy="2187883"/>
            <a:chOff x="0" y="0"/>
            <a:chExt cx="153530" cy="29171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543" cy="2917190"/>
            </a:xfrm>
            <a:custGeom>
              <a:avLst/>
              <a:gdLst/>
              <a:ahLst/>
              <a:cxnLst/>
              <a:rect r="r" b="b" t="t" l="l"/>
              <a:pathLst>
                <a:path h="291719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917190"/>
                  </a:lnTo>
                  <a:lnTo>
                    <a:pt x="0" y="2917190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347873" y="6263564"/>
            <a:ext cx="728893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DATASETS 2 AND 3 IQR REVIEW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47873" y="6794706"/>
            <a:ext cx="7288930" cy="107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Dataset 2 energy: 0 potential outliers. Dataset 3 power: 0 potential outliers.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CELLS 25, 27, 70, 102, 122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SHEA/WHAT THE DATA SAYS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08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07 / EDA — APPLIANCE CONSUMPTION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Heating and cooling sit above the rest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04446"/>
            <a:ext cx="10451373" cy="5756834"/>
            <a:chOff x="0" y="0"/>
            <a:chExt cx="13935164" cy="76757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35202" cy="7675752"/>
            </a:xfrm>
            <a:custGeom>
              <a:avLst/>
              <a:gdLst/>
              <a:ahLst/>
              <a:cxnLst/>
              <a:rect r="r" b="b" t="t" l="l"/>
              <a:pathLst>
                <a:path h="7675752" w="13935202">
                  <a:moveTo>
                    <a:pt x="0" y="614045"/>
                  </a:moveTo>
                  <a:cubicBezTo>
                    <a:pt x="0" y="274955"/>
                    <a:pt x="274955" y="0"/>
                    <a:pt x="614045" y="0"/>
                  </a:cubicBezTo>
                  <a:lnTo>
                    <a:pt x="13321157" y="0"/>
                  </a:lnTo>
                  <a:cubicBezTo>
                    <a:pt x="13660247" y="0"/>
                    <a:pt x="13935202" y="274955"/>
                    <a:pt x="13935202" y="614045"/>
                  </a:cubicBezTo>
                  <a:lnTo>
                    <a:pt x="13935202" y="7061708"/>
                  </a:lnTo>
                  <a:cubicBezTo>
                    <a:pt x="13935202" y="7400798"/>
                    <a:pt x="13660247" y="7675752"/>
                    <a:pt x="13321157" y="7675752"/>
                  </a:cubicBezTo>
                  <a:lnTo>
                    <a:pt x="614045" y="7675752"/>
                  </a:lnTo>
                  <a:cubicBezTo>
                    <a:pt x="274955" y="7675753"/>
                    <a:pt x="0" y="7400798"/>
                    <a:pt x="0" y="706170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94206" y="3175054"/>
            <a:ext cx="5435822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DATASET 1 / AVERAGE KWH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206" y="3888838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Air Conditioning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39848" y="3902583"/>
            <a:ext cx="5647020" cy="156334"/>
            <a:chOff x="0" y="0"/>
            <a:chExt cx="7529360" cy="208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039848" y="3902583"/>
            <a:ext cx="5647020" cy="156334"/>
            <a:chOff x="0" y="0"/>
            <a:chExt cx="7529360" cy="2084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745951" y="3857187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3.500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206" y="4547730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Heater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39848" y="4561465"/>
            <a:ext cx="5647020" cy="156334"/>
            <a:chOff x="0" y="0"/>
            <a:chExt cx="7529360" cy="2084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039848" y="4561465"/>
            <a:ext cx="5626113" cy="156334"/>
            <a:chOff x="0" y="0"/>
            <a:chExt cx="7501484" cy="2084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01509" cy="208407"/>
            </a:xfrm>
            <a:custGeom>
              <a:avLst/>
              <a:gdLst/>
              <a:ahLst/>
              <a:cxnLst/>
              <a:rect r="r" b="b" t="t" l="l"/>
              <a:pathLst>
                <a:path h="208407" w="7501509">
                  <a:moveTo>
                    <a:pt x="0" y="0"/>
                  </a:moveTo>
                  <a:lnTo>
                    <a:pt x="7501509" y="0"/>
                  </a:lnTo>
                  <a:lnTo>
                    <a:pt x="7501509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745951" y="4516069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3.487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4206" y="5206613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Dishwasher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39848" y="5220348"/>
            <a:ext cx="5647020" cy="156334"/>
            <a:chOff x="0" y="0"/>
            <a:chExt cx="7529360" cy="2084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039848" y="5220348"/>
            <a:ext cx="1792672" cy="156334"/>
            <a:chOff x="0" y="0"/>
            <a:chExt cx="2390229" cy="2084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90267" cy="208407"/>
            </a:xfrm>
            <a:custGeom>
              <a:avLst/>
              <a:gdLst/>
              <a:ahLst/>
              <a:cxnLst/>
              <a:rect r="r" b="b" t="t" l="l"/>
              <a:pathLst>
                <a:path h="208407" w="2390267">
                  <a:moveTo>
                    <a:pt x="0" y="0"/>
                  </a:moveTo>
                  <a:lnTo>
                    <a:pt x="2390267" y="0"/>
                  </a:lnTo>
                  <a:lnTo>
                    <a:pt x="2390267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745951" y="5174952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1.103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4206" y="5865495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Oven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039848" y="5879230"/>
            <a:ext cx="5647020" cy="156334"/>
            <a:chOff x="0" y="0"/>
            <a:chExt cx="7529360" cy="2084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039848" y="5879230"/>
            <a:ext cx="1792672" cy="156334"/>
            <a:chOff x="0" y="0"/>
            <a:chExt cx="2390229" cy="2084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90267" cy="208407"/>
            </a:xfrm>
            <a:custGeom>
              <a:avLst/>
              <a:gdLst/>
              <a:ahLst/>
              <a:cxnLst/>
              <a:rect r="r" b="b" t="t" l="l"/>
              <a:pathLst>
                <a:path h="208407" w="2390267">
                  <a:moveTo>
                    <a:pt x="0" y="0"/>
                  </a:moveTo>
                  <a:lnTo>
                    <a:pt x="2390267" y="0"/>
                  </a:lnTo>
                  <a:lnTo>
                    <a:pt x="2390267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745951" y="5833834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1.103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4206" y="6524377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Washing Machine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039848" y="6538112"/>
            <a:ext cx="5647020" cy="156334"/>
            <a:chOff x="0" y="0"/>
            <a:chExt cx="7529360" cy="2084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039848" y="6538112"/>
            <a:ext cx="1789462" cy="156334"/>
            <a:chOff x="0" y="0"/>
            <a:chExt cx="2385949" cy="2084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85949" cy="208407"/>
            </a:xfrm>
            <a:custGeom>
              <a:avLst/>
              <a:gdLst/>
              <a:ahLst/>
              <a:cxnLst/>
              <a:rect r="r" b="b" t="t" l="l"/>
              <a:pathLst>
                <a:path h="208407" w="2385949">
                  <a:moveTo>
                    <a:pt x="0" y="0"/>
                  </a:moveTo>
                  <a:lnTo>
                    <a:pt x="2385949" y="0"/>
                  </a:lnTo>
                  <a:lnTo>
                    <a:pt x="2385949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745951" y="6492716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1.101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4206" y="7183260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Fridge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039848" y="7196995"/>
            <a:ext cx="5647020" cy="156334"/>
            <a:chOff x="0" y="0"/>
            <a:chExt cx="7529360" cy="2084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529322" cy="208407"/>
            </a:xfrm>
            <a:custGeom>
              <a:avLst/>
              <a:gdLst/>
              <a:ahLst/>
              <a:cxnLst/>
              <a:rect r="r" b="b" t="t" l="l"/>
              <a:pathLst>
                <a:path h="208407" w="7529322">
                  <a:moveTo>
                    <a:pt x="0" y="0"/>
                  </a:moveTo>
                  <a:lnTo>
                    <a:pt x="7529322" y="0"/>
                  </a:lnTo>
                  <a:lnTo>
                    <a:pt x="752932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039848" y="7196995"/>
            <a:ext cx="498243" cy="156334"/>
            <a:chOff x="0" y="0"/>
            <a:chExt cx="664324" cy="2084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4337" cy="208407"/>
            </a:xfrm>
            <a:custGeom>
              <a:avLst/>
              <a:gdLst/>
              <a:ahLst/>
              <a:cxnLst/>
              <a:rect r="r" b="b" t="t" l="l"/>
              <a:pathLst>
                <a:path h="208407" w="664337">
                  <a:moveTo>
                    <a:pt x="0" y="0"/>
                  </a:moveTo>
                  <a:lnTo>
                    <a:pt x="664337" y="0"/>
                  </a:lnTo>
                  <a:lnTo>
                    <a:pt x="664337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9745951" y="7151599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0.298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960171" y="2804446"/>
            <a:ext cx="4960687" cy="5756834"/>
            <a:chOff x="0" y="0"/>
            <a:chExt cx="6614249" cy="767577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14160" cy="7675752"/>
            </a:xfrm>
            <a:custGeom>
              <a:avLst/>
              <a:gdLst/>
              <a:ahLst/>
              <a:cxnLst/>
              <a:rect r="r" b="b" t="t" l="l"/>
              <a:pathLst>
                <a:path h="7675752" w="6614160">
                  <a:moveTo>
                    <a:pt x="0" y="529082"/>
                  </a:moveTo>
                  <a:cubicBezTo>
                    <a:pt x="0" y="236855"/>
                    <a:pt x="236855" y="0"/>
                    <a:pt x="529082" y="0"/>
                  </a:cubicBezTo>
                  <a:lnTo>
                    <a:pt x="6085078" y="0"/>
                  </a:lnTo>
                  <a:cubicBezTo>
                    <a:pt x="6377305" y="0"/>
                    <a:pt x="6614160" y="236855"/>
                    <a:pt x="6614160" y="529082"/>
                  </a:cubicBezTo>
                  <a:lnTo>
                    <a:pt x="6614160" y="7146671"/>
                  </a:lnTo>
                  <a:cubicBezTo>
                    <a:pt x="6614160" y="7438898"/>
                    <a:pt x="6377305" y="7675752"/>
                    <a:pt x="6085078" y="7675752"/>
                  </a:cubicBezTo>
                  <a:lnTo>
                    <a:pt x="529082" y="7675752"/>
                  </a:lnTo>
                  <a:cubicBezTo>
                    <a:pt x="236855" y="7675753"/>
                    <a:pt x="0" y="7438898"/>
                    <a:pt x="0" y="71466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960171" y="2804446"/>
            <a:ext cx="115148" cy="5756834"/>
            <a:chOff x="0" y="0"/>
            <a:chExt cx="153530" cy="767577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543" cy="7675753"/>
            </a:xfrm>
            <a:custGeom>
              <a:avLst/>
              <a:gdLst/>
              <a:ahLst/>
              <a:cxnLst/>
              <a:rect r="r" b="b" t="t" l="l"/>
              <a:pathLst>
                <a:path h="7675753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675753"/>
                  </a:lnTo>
                  <a:lnTo>
                    <a:pt x="0" y="7675753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2326579" y="3106417"/>
            <a:ext cx="431023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COMPARISON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326579" y="3637559"/>
            <a:ext cx="4310234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3.5x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26579" y="4392530"/>
            <a:ext cx="4310234" cy="388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average consumption of Air Conditioning versus Fridge in Dataset 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2403" y="8743902"/>
            <a:ext cx="6808499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 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SHEA/WHAT THE DATA SAYS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09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08 / EDA — TIME AND CONTEXT PATTERNS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Time matters, but the hourly signal is modest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10478824" cy="5372491"/>
            <a:chOff x="0" y="0"/>
            <a:chExt cx="13971765" cy="7163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71778" cy="7163308"/>
            </a:xfrm>
            <a:custGeom>
              <a:avLst/>
              <a:gdLst/>
              <a:ahLst/>
              <a:cxnLst/>
              <a:rect r="r" b="b" t="t" l="l"/>
              <a:pathLst>
                <a:path h="7163308" w="13971778">
                  <a:moveTo>
                    <a:pt x="0" y="573024"/>
                  </a:moveTo>
                  <a:cubicBezTo>
                    <a:pt x="0" y="256540"/>
                    <a:pt x="256540" y="0"/>
                    <a:pt x="573024" y="0"/>
                  </a:cubicBezTo>
                  <a:lnTo>
                    <a:pt x="13398754" y="0"/>
                  </a:lnTo>
                  <a:cubicBezTo>
                    <a:pt x="13715239" y="0"/>
                    <a:pt x="13971778" y="256540"/>
                    <a:pt x="13971778" y="573024"/>
                  </a:cubicBezTo>
                  <a:lnTo>
                    <a:pt x="13971778" y="6590284"/>
                  </a:lnTo>
                  <a:cubicBezTo>
                    <a:pt x="13971778" y="6906768"/>
                    <a:pt x="13715239" y="7163308"/>
                    <a:pt x="13398754" y="7163308"/>
                  </a:cubicBezTo>
                  <a:lnTo>
                    <a:pt x="573024" y="7163308"/>
                  </a:lnTo>
                  <a:cubicBezTo>
                    <a:pt x="256540" y="7163308"/>
                    <a:pt x="0" y="6906768"/>
                    <a:pt x="0" y="6590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94206" y="3243691"/>
            <a:ext cx="680849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DATASET 1 / AVERAGE KWH BY HOUR</a:t>
            </a:r>
          </a:p>
        </p:txBody>
      </p:sp>
      <p:sp>
        <p:nvSpPr>
          <p:cNvPr name="AutoShape 15" id="15"/>
          <p:cNvSpPr/>
          <p:nvPr/>
        </p:nvSpPr>
        <p:spPr>
          <a:xfrm rot="7140">
            <a:off x="1225868" y="6240894"/>
            <a:ext cx="9215990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1026719">
            <a:off x="1206198" y="5510803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1026719">
            <a:off x="1606058" y="5607510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026660">
            <a:off x="2005927" y="5704227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026719">
            <a:off x="2405796" y="5800935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026719">
            <a:off x="2805655" y="5897642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026660">
            <a:off x="3205524" y="5994359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-1026660">
            <a:off x="3605393" y="5994359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-1026719">
            <a:off x="4005253" y="5897642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-1026719">
            <a:off x="4405122" y="5800935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-1026660">
            <a:off x="4804982" y="5704227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1026719">
            <a:off x="5204851" y="5607510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-1026719">
            <a:off x="5604720" y="5510803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-4177500">
            <a:off x="5604710" y="4891850"/>
            <a:ext cx="1258024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1551000">
            <a:off x="6390237" y="4408294"/>
            <a:ext cx="486699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1026719">
            <a:off x="6804308" y="4543692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1026660">
            <a:off x="7204177" y="4640399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1026719">
            <a:off x="7604046" y="4737116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1026719">
            <a:off x="8003905" y="4833823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1026660">
            <a:off x="8403774" y="4930531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1026719">
            <a:off x="8803643" y="5027247"/>
            <a:ext cx="45827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1026660">
            <a:off x="9203503" y="5123955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1026719">
            <a:off x="9603372" y="5220672"/>
            <a:ext cx="458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2648160">
            <a:off x="9927241" y="5462445"/>
            <a:ext cx="610286" cy="0"/>
          </a:xfrm>
          <a:prstGeom prst="line">
            <a:avLst/>
          </a:prstGeom>
          <a:ln cap="rnd" w="19050">
            <a:solidFill>
              <a:srgbClr val="1967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60853" y="6428289"/>
            <a:ext cx="63146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00:00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60039" y="6428289"/>
            <a:ext cx="63146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06:00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59234" y="6428289"/>
            <a:ext cx="63146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12:00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58429" y="6428289"/>
            <a:ext cx="63146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18:00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57755" y="6428289"/>
            <a:ext cx="631469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23:00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4206" y="7233961"/>
            <a:ext cx="9279312" cy="53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Peak in Dataset 1: hour 14 at 1.539 kWh. Lowest: hour 23 at 1.470 kWh.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960171" y="2845622"/>
            <a:ext cx="4960687" cy="2462422"/>
            <a:chOff x="0" y="0"/>
            <a:chExt cx="6614249" cy="328322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4287" cy="3283204"/>
            </a:xfrm>
            <a:custGeom>
              <a:avLst/>
              <a:gdLst/>
              <a:ahLst/>
              <a:cxnLst/>
              <a:rect r="r" b="b" t="t" l="l"/>
              <a:pathLst>
                <a:path h="3283204" w="6614287">
                  <a:moveTo>
                    <a:pt x="0" y="262636"/>
                  </a:moveTo>
                  <a:cubicBezTo>
                    <a:pt x="0" y="117602"/>
                    <a:pt x="117602" y="0"/>
                    <a:pt x="262636" y="0"/>
                  </a:cubicBezTo>
                  <a:lnTo>
                    <a:pt x="6351651" y="0"/>
                  </a:lnTo>
                  <a:cubicBezTo>
                    <a:pt x="6496685" y="0"/>
                    <a:pt x="6614287" y="117602"/>
                    <a:pt x="6614287" y="262636"/>
                  </a:cubicBezTo>
                  <a:lnTo>
                    <a:pt x="6614287" y="3020568"/>
                  </a:lnTo>
                  <a:cubicBezTo>
                    <a:pt x="6614287" y="3165602"/>
                    <a:pt x="6496685" y="3283204"/>
                    <a:pt x="6351651" y="3283204"/>
                  </a:cubicBezTo>
                  <a:lnTo>
                    <a:pt x="262636" y="3283204"/>
                  </a:lnTo>
                  <a:cubicBezTo>
                    <a:pt x="117602" y="3283204"/>
                    <a:pt x="0" y="3165602"/>
                    <a:pt x="0" y="302056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960171" y="2845622"/>
            <a:ext cx="115148" cy="2462422"/>
            <a:chOff x="0" y="0"/>
            <a:chExt cx="153530" cy="32832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3543" cy="3283204"/>
            </a:xfrm>
            <a:custGeom>
              <a:avLst/>
              <a:gdLst/>
              <a:ahLst/>
              <a:cxnLst/>
              <a:rect r="r" b="b" t="t" l="l"/>
              <a:pathLst>
                <a:path h="328320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283204"/>
                  </a:lnTo>
                  <a:lnTo>
                    <a:pt x="0" y="328320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326579" y="3147603"/>
            <a:ext cx="431023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DATASET 2 / CONTEXT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26579" y="3678736"/>
            <a:ext cx="4310234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59.5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26579" y="4433707"/>
            <a:ext cx="4310234" cy="59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mean usage duration / minutes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960171" y="5618426"/>
            <a:ext cx="4960687" cy="2599687"/>
            <a:chOff x="0" y="0"/>
            <a:chExt cx="6614249" cy="34662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4160" cy="3466211"/>
            </a:xfrm>
            <a:custGeom>
              <a:avLst/>
              <a:gdLst/>
              <a:ahLst/>
              <a:cxnLst/>
              <a:rect r="r" b="b" t="t" l="l"/>
              <a:pathLst>
                <a:path h="3466211" w="6614160">
                  <a:moveTo>
                    <a:pt x="0" y="277241"/>
                  </a:moveTo>
                  <a:cubicBezTo>
                    <a:pt x="0" y="124206"/>
                    <a:pt x="124206" y="0"/>
                    <a:pt x="277241" y="0"/>
                  </a:cubicBezTo>
                  <a:lnTo>
                    <a:pt x="6336919" y="0"/>
                  </a:lnTo>
                  <a:cubicBezTo>
                    <a:pt x="6490081" y="0"/>
                    <a:pt x="6614160" y="124206"/>
                    <a:pt x="6614160" y="277241"/>
                  </a:cubicBezTo>
                  <a:lnTo>
                    <a:pt x="6614160" y="3188970"/>
                  </a:lnTo>
                  <a:cubicBezTo>
                    <a:pt x="6614160" y="3342132"/>
                    <a:pt x="6489954" y="3466211"/>
                    <a:pt x="6336919" y="3466211"/>
                  </a:cubicBezTo>
                  <a:lnTo>
                    <a:pt x="277241" y="3466211"/>
                  </a:lnTo>
                  <a:cubicBezTo>
                    <a:pt x="124206" y="3466211"/>
                    <a:pt x="0" y="3342132"/>
                    <a:pt x="0" y="318897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960171" y="5618426"/>
            <a:ext cx="115148" cy="2599687"/>
            <a:chOff x="0" y="0"/>
            <a:chExt cx="153530" cy="34662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3543" cy="3466211"/>
            </a:xfrm>
            <a:custGeom>
              <a:avLst/>
              <a:gdLst/>
              <a:ahLst/>
              <a:cxnLst/>
              <a:rect r="r" b="b" t="t" l="l"/>
              <a:pathLst>
                <a:path h="3466211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466211"/>
                  </a:lnTo>
                  <a:lnTo>
                    <a:pt x="0" y="3466211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2326579" y="5920397"/>
            <a:ext cx="431023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MEAN ENERGY / KWH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26579" y="6451540"/>
            <a:ext cx="4310234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2.55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26579" y="7206510"/>
            <a:ext cx="4310234" cy="7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Dataset 2 context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82403" y="8716451"/>
            <a:ext cx="818117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CELLS 21, 36, 45, 56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SHEA/FROM DATA TO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10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09 /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Clean, encode, then split without leakage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5715657" cy="5372491"/>
            <a:chOff x="0" y="0"/>
            <a:chExt cx="7620876" cy="7163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889" cy="7163308"/>
            </a:xfrm>
            <a:custGeom>
              <a:avLst/>
              <a:gdLst/>
              <a:ahLst/>
              <a:cxnLst/>
              <a:rect r="r" b="b" t="t" l="l"/>
              <a:pathLst>
                <a:path h="7163308" w="7620889">
                  <a:moveTo>
                    <a:pt x="0" y="573024"/>
                  </a:moveTo>
                  <a:cubicBezTo>
                    <a:pt x="0" y="256540"/>
                    <a:pt x="256540" y="0"/>
                    <a:pt x="573024" y="0"/>
                  </a:cubicBezTo>
                  <a:lnTo>
                    <a:pt x="7047865" y="0"/>
                  </a:lnTo>
                  <a:cubicBezTo>
                    <a:pt x="7364349" y="0"/>
                    <a:pt x="7620889" y="256540"/>
                    <a:pt x="7620889" y="573024"/>
                  </a:cubicBezTo>
                  <a:lnTo>
                    <a:pt x="7620889" y="6590284"/>
                  </a:lnTo>
                  <a:cubicBezTo>
                    <a:pt x="7620889" y="6906768"/>
                    <a:pt x="7364349" y="7163308"/>
                    <a:pt x="7047865" y="7163308"/>
                  </a:cubicBezTo>
                  <a:lnTo>
                    <a:pt x="573024" y="7163308"/>
                  </a:lnTo>
                  <a:cubicBezTo>
                    <a:pt x="256540" y="7163308"/>
                    <a:pt x="0" y="6906768"/>
                    <a:pt x="0" y="6590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45622"/>
            <a:ext cx="115148" cy="5372491"/>
            <a:chOff x="0" y="0"/>
            <a:chExt cx="153530" cy="71633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7163308"/>
            </a:xfrm>
            <a:custGeom>
              <a:avLst/>
              <a:gdLst/>
              <a:ahLst/>
              <a:cxnLst/>
              <a:rect r="r" b="b" t="t" l="l"/>
              <a:pathLst>
                <a:path h="716330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163308"/>
                  </a:lnTo>
                  <a:lnTo>
                    <a:pt x="0" y="7163308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47603"/>
            <a:ext cx="506520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PIPELINE GUARDRAIL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78736"/>
            <a:ext cx="5065204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80 / 20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433707"/>
            <a:ext cx="5065204" cy="350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train / test split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Random state 42. Numeric scalers fit on training data only.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922465" y="2845622"/>
            <a:ext cx="9998393" cy="1460373"/>
            <a:chOff x="0" y="0"/>
            <a:chExt cx="13331190" cy="19471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31191" cy="1947164"/>
            </a:xfrm>
            <a:custGeom>
              <a:avLst/>
              <a:gdLst/>
              <a:ahLst/>
              <a:cxnLst/>
              <a:rect r="r" b="b" t="t" l="l"/>
              <a:pathLst>
                <a:path h="1947164" w="13331191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13175362" y="0"/>
                  </a:lnTo>
                  <a:cubicBezTo>
                    <a:pt x="13261341" y="0"/>
                    <a:pt x="13331191" y="69723"/>
                    <a:pt x="13331191" y="155829"/>
                  </a:cubicBezTo>
                  <a:lnTo>
                    <a:pt x="13331191" y="1791335"/>
                  </a:lnTo>
                  <a:cubicBezTo>
                    <a:pt x="13331191" y="1877314"/>
                    <a:pt x="13261468" y="1947164"/>
                    <a:pt x="13175362" y="1947164"/>
                  </a:cubicBezTo>
                  <a:lnTo>
                    <a:pt x="155829" y="1947164"/>
                  </a:lnTo>
                  <a:cubicBezTo>
                    <a:pt x="69723" y="1947164"/>
                    <a:pt x="0" y="1877441"/>
                    <a:pt x="0" y="17913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22465" y="2845622"/>
            <a:ext cx="115148" cy="1460373"/>
            <a:chOff x="0" y="0"/>
            <a:chExt cx="153530" cy="19471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1947164"/>
            </a:xfrm>
            <a:custGeom>
              <a:avLst/>
              <a:gdLst/>
              <a:ahLst/>
              <a:cxnLst/>
              <a:rect r="r" b="b" t="t" l="l"/>
              <a:pathLst>
                <a:path h="194716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947164"/>
                  </a:lnTo>
                  <a:lnTo>
                    <a:pt x="0" y="194716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288873" y="3147603"/>
            <a:ext cx="934794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MISSING VALUES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88873" y="3678736"/>
            <a:ext cx="9347940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Checked across all sources; none found.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922465" y="4602651"/>
            <a:ext cx="9998393" cy="1460373"/>
            <a:chOff x="0" y="0"/>
            <a:chExt cx="13331190" cy="19471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31191" cy="1947164"/>
            </a:xfrm>
            <a:custGeom>
              <a:avLst/>
              <a:gdLst/>
              <a:ahLst/>
              <a:cxnLst/>
              <a:rect r="r" b="b" t="t" l="l"/>
              <a:pathLst>
                <a:path h="1947164" w="13331191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13175362" y="0"/>
                  </a:lnTo>
                  <a:cubicBezTo>
                    <a:pt x="13261341" y="0"/>
                    <a:pt x="13331191" y="69723"/>
                    <a:pt x="13331191" y="155829"/>
                  </a:cubicBezTo>
                  <a:lnTo>
                    <a:pt x="13331191" y="1791335"/>
                  </a:lnTo>
                  <a:cubicBezTo>
                    <a:pt x="13331191" y="1877314"/>
                    <a:pt x="13261468" y="1947164"/>
                    <a:pt x="13175362" y="1947164"/>
                  </a:cubicBezTo>
                  <a:lnTo>
                    <a:pt x="155829" y="1947164"/>
                  </a:lnTo>
                  <a:cubicBezTo>
                    <a:pt x="69723" y="1947164"/>
                    <a:pt x="0" y="1877441"/>
                    <a:pt x="0" y="17913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22465" y="4602651"/>
            <a:ext cx="115148" cy="1460373"/>
            <a:chOff x="0" y="0"/>
            <a:chExt cx="153530" cy="19471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3543" cy="1947164"/>
            </a:xfrm>
            <a:custGeom>
              <a:avLst/>
              <a:gdLst/>
              <a:ahLst/>
              <a:cxnLst/>
              <a:rect r="r" b="b" t="t" l="l"/>
              <a:pathLst>
                <a:path h="194716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947164"/>
                  </a:lnTo>
                  <a:lnTo>
                    <a:pt x="0" y="194716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7288873" y="4904623"/>
            <a:ext cx="934794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CATEGORICAL ENCODING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88873" y="5435765"/>
            <a:ext cx="9347940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Appliance, season, and day-of-week expanded.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922465" y="6359671"/>
            <a:ext cx="9998393" cy="1460373"/>
            <a:chOff x="0" y="0"/>
            <a:chExt cx="13331190" cy="19471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331191" cy="1947164"/>
            </a:xfrm>
            <a:custGeom>
              <a:avLst/>
              <a:gdLst/>
              <a:ahLst/>
              <a:cxnLst/>
              <a:rect r="r" b="b" t="t" l="l"/>
              <a:pathLst>
                <a:path h="1947164" w="13331191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13175362" y="0"/>
                  </a:lnTo>
                  <a:cubicBezTo>
                    <a:pt x="13261341" y="0"/>
                    <a:pt x="13331191" y="69723"/>
                    <a:pt x="13331191" y="155829"/>
                  </a:cubicBezTo>
                  <a:lnTo>
                    <a:pt x="13331191" y="1791335"/>
                  </a:lnTo>
                  <a:cubicBezTo>
                    <a:pt x="13331191" y="1877314"/>
                    <a:pt x="13261468" y="1947164"/>
                    <a:pt x="13175362" y="1947164"/>
                  </a:cubicBezTo>
                  <a:lnTo>
                    <a:pt x="155829" y="1947164"/>
                  </a:lnTo>
                  <a:cubicBezTo>
                    <a:pt x="69723" y="1947164"/>
                    <a:pt x="0" y="1877441"/>
                    <a:pt x="0" y="17913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922465" y="6359671"/>
            <a:ext cx="115148" cy="1460373"/>
            <a:chOff x="0" y="0"/>
            <a:chExt cx="153530" cy="19471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3543" cy="1947164"/>
            </a:xfrm>
            <a:custGeom>
              <a:avLst/>
              <a:gdLst/>
              <a:ahLst/>
              <a:cxnLst/>
              <a:rect r="r" b="b" t="t" l="l"/>
              <a:pathLst>
                <a:path h="194716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947164"/>
                  </a:lnTo>
                  <a:lnTo>
                    <a:pt x="0" y="194716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7288873" y="6661642"/>
            <a:ext cx="934794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03 / SCALING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88873" y="7192785"/>
            <a:ext cx="9347940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Numeric columns standardized after the split.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CELLS 141-160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SHEA/FROM DATA TO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11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10 / 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Turn timestamps and metadata into model-ready context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7953108" cy="5399942"/>
            <a:chOff x="0" y="0"/>
            <a:chExt cx="10604144" cy="71999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4119" cy="7199884"/>
            </a:xfrm>
            <a:custGeom>
              <a:avLst/>
              <a:gdLst/>
              <a:ahLst/>
              <a:cxnLst/>
              <a:rect r="r" b="b" t="t" l="l"/>
              <a:pathLst>
                <a:path h="7199884" w="10604119">
                  <a:moveTo>
                    <a:pt x="0" y="575945"/>
                  </a:moveTo>
                  <a:cubicBezTo>
                    <a:pt x="0" y="257937"/>
                    <a:pt x="257937" y="0"/>
                    <a:pt x="575945" y="0"/>
                  </a:cubicBezTo>
                  <a:lnTo>
                    <a:pt x="10028174" y="0"/>
                  </a:lnTo>
                  <a:cubicBezTo>
                    <a:pt x="10346309" y="0"/>
                    <a:pt x="10604119" y="257937"/>
                    <a:pt x="10604119" y="575945"/>
                  </a:cubicBezTo>
                  <a:lnTo>
                    <a:pt x="10604119" y="6623939"/>
                  </a:lnTo>
                  <a:cubicBezTo>
                    <a:pt x="10604119" y="6942074"/>
                    <a:pt x="10346182" y="7199884"/>
                    <a:pt x="10028174" y="7199884"/>
                  </a:cubicBezTo>
                  <a:lnTo>
                    <a:pt x="575945" y="7199884"/>
                  </a:lnTo>
                  <a:cubicBezTo>
                    <a:pt x="257937" y="7199884"/>
                    <a:pt x="0" y="6942074"/>
                    <a:pt x="0" y="66239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45622"/>
            <a:ext cx="115148" cy="5399942"/>
            <a:chOff x="0" y="0"/>
            <a:chExt cx="153530" cy="71999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7199884"/>
            </a:xfrm>
            <a:custGeom>
              <a:avLst/>
              <a:gdLst/>
              <a:ahLst/>
              <a:cxnLst/>
              <a:rect r="r" b="b" t="t" l="l"/>
              <a:pathLst>
                <a:path h="719988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199884"/>
                  </a:lnTo>
                  <a:lnTo>
                    <a:pt x="0" y="719988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47603"/>
            <a:ext cx="7302656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TIME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78736"/>
            <a:ext cx="7302656" cy="428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Hour     Month     IsWeekend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Extracted from Date / Time in Dataset 1 and timestamp in Dataset 2.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81475" y="2845622"/>
            <a:ext cx="7939383" cy="5399942"/>
            <a:chOff x="0" y="0"/>
            <a:chExt cx="10585844" cy="71999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85831" cy="7199884"/>
            </a:xfrm>
            <a:custGeom>
              <a:avLst/>
              <a:gdLst/>
              <a:ahLst/>
              <a:cxnLst/>
              <a:rect r="r" b="b" t="t" l="l"/>
              <a:pathLst>
                <a:path h="7199884" w="10585831">
                  <a:moveTo>
                    <a:pt x="0" y="575945"/>
                  </a:moveTo>
                  <a:cubicBezTo>
                    <a:pt x="0" y="257937"/>
                    <a:pt x="257937" y="0"/>
                    <a:pt x="575945" y="0"/>
                  </a:cubicBezTo>
                  <a:lnTo>
                    <a:pt x="10009886" y="0"/>
                  </a:lnTo>
                  <a:cubicBezTo>
                    <a:pt x="10328021" y="0"/>
                    <a:pt x="10585831" y="257937"/>
                    <a:pt x="10585831" y="575945"/>
                  </a:cubicBezTo>
                  <a:lnTo>
                    <a:pt x="10585831" y="6623939"/>
                  </a:lnTo>
                  <a:cubicBezTo>
                    <a:pt x="10585831" y="6942074"/>
                    <a:pt x="10327894" y="7199884"/>
                    <a:pt x="10009886" y="7199884"/>
                  </a:cubicBezTo>
                  <a:lnTo>
                    <a:pt x="575945" y="7199884"/>
                  </a:lnTo>
                  <a:cubicBezTo>
                    <a:pt x="257937" y="7199884"/>
                    <a:pt x="0" y="6942074"/>
                    <a:pt x="0" y="66239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81475" y="2845622"/>
            <a:ext cx="115148" cy="5399942"/>
            <a:chOff x="0" y="0"/>
            <a:chExt cx="153530" cy="71999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7199884"/>
            </a:xfrm>
            <a:custGeom>
              <a:avLst/>
              <a:gdLst/>
              <a:ahLst/>
              <a:cxnLst/>
              <a:rect r="r" b="b" t="t" l="l"/>
              <a:pathLst>
                <a:path h="719988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199884"/>
                  </a:lnTo>
                  <a:lnTo>
                    <a:pt x="0" y="719988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347873" y="3147603"/>
            <a:ext cx="728893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CONTEXT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7873" y="3678736"/>
            <a:ext cx="7288930" cy="428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Temperature     Household size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Season     Power max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Metadata adds appliance-level context when it is available.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2403" y="8716451"/>
            <a:ext cx="818117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28 FEATURE COLUMNS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12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11 / TRAIN/TEST SPLIT AND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Four regressors land in the same performance band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3725285" cy="5372491"/>
            <a:chOff x="0" y="0"/>
            <a:chExt cx="4967046" cy="7163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7097" cy="7163308"/>
            </a:xfrm>
            <a:custGeom>
              <a:avLst/>
              <a:gdLst/>
              <a:ahLst/>
              <a:cxnLst/>
              <a:rect r="r" b="b" t="t" l="l"/>
              <a:pathLst>
                <a:path h="7163308" w="4967097">
                  <a:moveTo>
                    <a:pt x="0" y="397383"/>
                  </a:moveTo>
                  <a:cubicBezTo>
                    <a:pt x="0" y="177927"/>
                    <a:pt x="177927" y="0"/>
                    <a:pt x="397383" y="0"/>
                  </a:cubicBezTo>
                  <a:lnTo>
                    <a:pt x="4569714" y="0"/>
                  </a:lnTo>
                  <a:cubicBezTo>
                    <a:pt x="4789170" y="0"/>
                    <a:pt x="4967097" y="177927"/>
                    <a:pt x="4967097" y="397383"/>
                  </a:cubicBezTo>
                  <a:lnTo>
                    <a:pt x="4967097" y="6765925"/>
                  </a:lnTo>
                  <a:cubicBezTo>
                    <a:pt x="4967097" y="6985381"/>
                    <a:pt x="4789170" y="7163308"/>
                    <a:pt x="4569714" y="7163308"/>
                  </a:cubicBezTo>
                  <a:lnTo>
                    <a:pt x="397383" y="7163308"/>
                  </a:lnTo>
                  <a:cubicBezTo>
                    <a:pt x="177927" y="7163308"/>
                    <a:pt x="0" y="6985381"/>
                    <a:pt x="0" y="67659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45622"/>
            <a:ext cx="115148" cy="5372491"/>
            <a:chOff x="0" y="0"/>
            <a:chExt cx="153530" cy="71633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7163308"/>
            </a:xfrm>
            <a:custGeom>
              <a:avLst/>
              <a:gdLst/>
              <a:ahLst/>
              <a:cxnLst/>
              <a:rect r="r" b="b" t="t" l="l"/>
              <a:pathLst>
                <a:path h="716330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163308"/>
                  </a:lnTo>
                  <a:lnTo>
                    <a:pt x="0" y="7163308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47603"/>
            <a:ext cx="3074832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TEST SET / DATASET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78736"/>
            <a:ext cx="3074832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20k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433707"/>
            <a:ext cx="3074832" cy="350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rows held out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767367" y="2845622"/>
            <a:ext cx="3725285" cy="5372491"/>
            <a:chOff x="0" y="0"/>
            <a:chExt cx="4967046" cy="71633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7163308"/>
            </a:xfrm>
            <a:custGeom>
              <a:avLst/>
              <a:gdLst/>
              <a:ahLst/>
              <a:cxnLst/>
              <a:rect r="r" b="b" t="t" l="l"/>
              <a:pathLst>
                <a:path h="7163308" w="4967097">
                  <a:moveTo>
                    <a:pt x="0" y="397383"/>
                  </a:moveTo>
                  <a:cubicBezTo>
                    <a:pt x="0" y="177927"/>
                    <a:pt x="177927" y="0"/>
                    <a:pt x="397383" y="0"/>
                  </a:cubicBezTo>
                  <a:lnTo>
                    <a:pt x="4569714" y="0"/>
                  </a:lnTo>
                  <a:cubicBezTo>
                    <a:pt x="4789170" y="0"/>
                    <a:pt x="4967097" y="177927"/>
                    <a:pt x="4967097" y="397383"/>
                  </a:cubicBezTo>
                  <a:lnTo>
                    <a:pt x="4967097" y="6765925"/>
                  </a:lnTo>
                  <a:cubicBezTo>
                    <a:pt x="4967097" y="6985381"/>
                    <a:pt x="4789170" y="7163308"/>
                    <a:pt x="4569714" y="7163308"/>
                  </a:cubicBezTo>
                  <a:lnTo>
                    <a:pt x="397383" y="7163308"/>
                  </a:lnTo>
                  <a:cubicBezTo>
                    <a:pt x="177927" y="7163308"/>
                    <a:pt x="0" y="6985381"/>
                    <a:pt x="0" y="67659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767367" y="2845622"/>
            <a:ext cx="115148" cy="5372491"/>
            <a:chOff x="0" y="0"/>
            <a:chExt cx="153530" cy="71633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7163308"/>
            </a:xfrm>
            <a:custGeom>
              <a:avLst/>
              <a:gdLst/>
              <a:ahLst/>
              <a:cxnLst/>
              <a:rect r="r" b="b" t="t" l="l"/>
              <a:pathLst>
                <a:path h="716330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163308"/>
                  </a:lnTo>
                  <a:lnTo>
                    <a:pt x="0" y="7163308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133775" y="3147603"/>
            <a:ext cx="3074832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33775" y="3678736"/>
            <a:ext cx="3074832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33775" y="4433707"/>
            <a:ext cx="3074832" cy="350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features after augmentation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saved comparison uses MAE, RMSE, and R² on the same evaluation path.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03024" y="2845622"/>
            <a:ext cx="8117834" cy="5372491"/>
            <a:chOff x="0" y="0"/>
            <a:chExt cx="10823778" cy="71633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23702" cy="7163308"/>
            </a:xfrm>
            <a:custGeom>
              <a:avLst/>
              <a:gdLst/>
              <a:ahLst/>
              <a:cxnLst/>
              <a:rect r="r" b="b" t="t" l="l"/>
              <a:pathLst>
                <a:path h="7163308" w="10823702">
                  <a:moveTo>
                    <a:pt x="0" y="573024"/>
                  </a:moveTo>
                  <a:cubicBezTo>
                    <a:pt x="0" y="256540"/>
                    <a:pt x="256540" y="0"/>
                    <a:pt x="573024" y="0"/>
                  </a:cubicBezTo>
                  <a:lnTo>
                    <a:pt x="10250678" y="0"/>
                  </a:lnTo>
                  <a:cubicBezTo>
                    <a:pt x="10567162" y="0"/>
                    <a:pt x="10823702" y="256540"/>
                    <a:pt x="10823702" y="573024"/>
                  </a:cubicBezTo>
                  <a:lnTo>
                    <a:pt x="10823702" y="6590284"/>
                  </a:lnTo>
                  <a:cubicBezTo>
                    <a:pt x="10823702" y="6906768"/>
                    <a:pt x="10567162" y="7163308"/>
                    <a:pt x="10250678" y="7163308"/>
                  </a:cubicBezTo>
                  <a:lnTo>
                    <a:pt x="573024" y="7163308"/>
                  </a:lnTo>
                  <a:cubicBezTo>
                    <a:pt x="256540" y="7163308"/>
                    <a:pt x="0" y="6906768"/>
                    <a:pt x="0" y="6590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292971" y="3243691"/>
            <a:ext cx="4063155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BASELINE RESULT / R²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92971" y="4026113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Linear Regression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38622" y="4039848"/>
            <a:ext cx="3176216" cy="156334"/>
            <a:chOff x="0" y="0"/>
            <a:chExt cx="4234955" cy="2084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34942" cy="208407"/>
            </a:xfrm>
            <a:custGeom>
              <a:avLst/>
              <a:gdLst/>
              <a:ahLst/>
              <a:cxnLst/>
              <a:rect r="r" b="b" t="t" l="l"/>
              <a:pathLst>
                <a:path h="208407" w="4234942">
                  <a:moveTo>
                    <a:pt x="0" y="0"/>
                  </a:moveTo>
                  <a:lnTo>
                    <a:pt x="4234942" y="0"/>
                  </a:lnTo>
                  <a:lnTo>
                    <a:pt x="423494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38622" y="4039848"/>
            <a:ext cx="3165824" cy="156334"/>
            <a:chOff x="0" y="0"/>
            <a:chExt cx="4221099" cy="2084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21099" cy="208407"/>
            </a:xfrm>
            <a:custGeom>
              <a:avLst/>
              <a:gdLst/>
              <a:ahLst/>
              <a:cxnLst/>
              <a:rect r="r" b="b" t="t" l="l"/>
              <a:pathLst>
                <a:path h="208407" w="4221099">
                  <a:moveTo>
                    <a:pt x="0" y="0"/>
                  </a:moveTo>
                  <a:lnTo>
                    <a:pt x="4221099" y="0"/>
                  </a:lnTo>
                  <a:lnTo>
                    <a:pt x="4221099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5373912" y="3994452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0.7575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92971" y="5055613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Gradient Boosting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138622" y="5069357"/>
            <a:ext cx="3176216" cy="156334"/>
            <a:chOff x="0" y="0"/>
            <a:chExt cx="4234955" cy="2084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34942" cy="208407"/>
            </a:xfrm>
            <a:custGeom>
              <a:avLst/>
              <a:gdLst/>
              <a:ahLst/>
              <a:cxnLst/>
              <a:rect r="r" b="b" t="t" l="l"/>
              <a:pathLst>
                <a:path h="208407" w="4234942">
                  <a:moveTo>
                    <a:pt x="0" y="0"/>
                  </a:moveTo>
                  <a:lnTo>
                    <a:pt x="4234942" y="0"/>
                  </a:lnTo>
                  <a:lnTo>
                    <a:pt x="423494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38622" y="5069357"/>
            <a:ext cx="3165415" cy="156334"/>
            <a:chOff x="0" y="0"/>
            <a:chExt cx="4220553" cy="2084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20591" cy="208407"/>
            </a:xfrm>
            <a:custGeom>
              <a:avLst/>
              <a:gdLst/>
              <a:ahLst/>
              <a:cxnLst/>
              <a:rect r="r" b="b" t="t" l="l"/>
              <a:pathLst>
                <a:path h="208407" w="4220591">
                  <a:moveTo>
                    <a:pt x="0" y="0"/>
                  </a:moveTo>
                  <a:lnTo>
                    <a:pt x="4220591" y="0"/>
                  </a:lnTo>
                  <a:lnTo>
                    <a:pt x="4220591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5373912" y="5023961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0.7574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92971" y="6085122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Random Forest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138622" y="6098858"/>
            <a:ext cx="3176216" cy="156334"/>
            <a:chOff x="0" y="0"/>
            <a:chExt cx="4234955" cy="2084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34942" cy="208407"/>
            </a:xfrm>
            <a:custGeom>
              <a:avLst/>
              <a:gdLst/>
              <a:ahLst/>
              <a:cxnLst/>
              <a:rect r="r" b="b" t="t" l="l"/>
              <a:pathLst>
                <a:path h="208407" w="4234942">
                  <a:moveTo>
                    <a:pt x="0" y="0"/>
                  </a:moveTo>
                  <a:lnTo>
                    <a:pt x="4234942" y="0"/>
                  </a:lnTo>
                  <a:lnTo>
                    <a:pt x="423494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38622" y="6098858"/>
            <a:ext cx="3162500" cy="156334"/>
            <a:chOff x="0" y="0"/>
            <a:chExt cx="4216667" cy="2084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16654" cy="208407"/>
            </a:xfrm>
            <a:custGeom>
              <a:avLst/>
              <a:gdLst/>
              <a:ahLst/>
              <a:cxnLst/>
              <a:rect r="r" b="b" t="t" l="l"/>
              <a:pathLst>
                <a:path h="208407" w="4216654">
                  <a:moveTo>
                    <a:pt x="0" y="0"/>
                  </a:moveTo>
                  <a:lnTo>
                    <a:pt x="4216654" y="0"/>
                  </a:lnTo>
                  <a:lnTo>
                    <a:pt x="4216654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5373912" y="6053461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0.7567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13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12 / LINEAR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Linear Regression is the strongest baseline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010348"/>
            <a:ext cx="4988138" cy="4686148"/>
            <a:chOff x="0" y="0"/>
            <a:chExt cx="6650850" cy="6248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863" cy="6248273"/>
            </a:xfrm>
            <a:custGeom>
              <a:avLst/>
              <a:gdLst/>
              <a:ahLst/>
              <a:cxnLst/>
              <a:rect r="r" b="b" t="t" l="l"/>
              <a:pathLst>
                <a:path h="6248273" w="6650863">
                  <a:moveTo>
                    <a:pt x="0" y="499872"/>
                  </a:moveTo>
                  <a:cubicBezTo>
                    <a:pt x="0" y="223774"/>
                    <a:pt x="223774" y="0"/>
                    <a:pt x="499872" y="0"/>
                  </a:cubicBezTo>
                  <a:lnTo>
                    <a:pt x="6150991" y="0"/>
                  </a:lnTo>
                  <a:cubicBezTo>
                    <a:pt x="6427089" y="0"/>
                    <a:pt x="6650863" y="223774"/>
                    <a:pt x="6650863" y="499872"/>
                  </a:cubicBezTo>
                  <a:lnTo>
                    <a:pt x="6650863" y="5748401"/>
                  </a:lnTo>
                  <a:cubicBezTo>
                    <a:pt x="6650863" y="6024499"/>
                    <a:pt x="6427089" y="6248273"/>
                    <a:pt x="6150991" y="6248273"/>
                  </a:cubicBezTo>
                  <a:lnTo>
                    <a:pt x="499872" y="6248273"/>
                  </a:lnTo>
                  <a:cubicBezTo>
                    <a:pt x="223774" y="6248146"/>
                    <a:pt x="0" y="6024372"/>
                    <a:pt x="0" y="57484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3010348"/>
            <a:ext cx="115148" cy="4686148"/>
            <a:chOff x="0" y="0"/>
            <a:chExt cx="153530" cy="62481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248146"/>
            </a:xfrm>
            <a:custGeom>
              <a:avLst/>
              <a:gdLst/>
              <a:ahLst/>
              <a:cxnLst/>
              <a:rect r="r" b="b" t="t" l="l"/>
              <a:pathLst>
                <a:path h="6248146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MAE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43461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0.476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598432"/>
            <a:ext cx="4337685" cy="281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average absolute error / kWh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42024" y="3010348"/>
            <a:ext cx="4988138" cy="4686148"/>
            <a:chOff x="0" y="0"/>
            <a:chExt cx="6650850" cy="6248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0863" cy="6248273"/>
            </a:xfrm>
            <a:custGeom>
              <a:avLst/>
              <a:gdLst/>
              <a:ahLst/>
              <a:cxnLst/>
              <a:rect r="r" b="b" t="t" l="l"/>
              <a:pathLst>
                <a:path h="6248273" w="6650863">
                  <a:moveTo>
                    <a:pt x="0" y="499872"/>
                  </a:moveTo>
                  <a:cubicBezTo>
                    <a:pt x="0" y="223774"/>
                    <a:pt x="223774" y="0"/>
                    <a:pt x="499872" y="0"/>
                  </a:cubicBezTo>
                  <a:lnTo>
                    <a:pt x="6150991" y="0"/>
                  </a:lnTo>
                  <a:cubicBezTo>
                    <a:pt x="6427089" y="0"/>
                    <a:pt x="6650863" y="223774"/>
                    <a:pt x="6650863" y="499872"/>
                  </a:cubicBezTo>
                  <a:lnTo>
                    <a:pt x="6650863" y="5748401"/>
                  </a:lnTo>
                  <a:cubicBezTo>
                    <a:pt x="6650863" y="6024499"/>
                    <a:pt x="6427089" y="6248273"/>
                    <a:pt x="6150991" y="6248273"/>
                  </a:cubicBezTo>
                  <a:lnTo>
                    <a:pt x="499872" y="6248273"/>
                  </a:lnTo>
                  <a:cubicBezTo>
                    <a:pt x="223774" y="6248146"/>
                    <a:pt x="0" y="6024372"/>
                    <a:pt x="0" y="57484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42024" y="3010348"/>
            <a:ext cx="115148" cy="4686148"/>
            <a:chOff x="0" y="0"/>
            <a:chExt cx="153530" cy="6248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6248146"/>
            </a:xfrm>
            <a:custGeom>
              <a:avLst/>
              <a:gdLst/>
              <a:ahLst/>
              <a:cxnLst/>
              <a:rect r="r" b="b" t="t" l="l"/>
              <a:pathLst>
                <a:path h="6248146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808432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RMSE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8432" y="3843461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0.584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8432" y="4598432"/>
            <a:ext cx="4337685" cy="281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root mean squared error / kWh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38622" y="3010348"/>
            <a:ext cx="4988138" cy="4686148"/>
            <a:chOff x="0" y="0"/>
            <a:chExt cx="6650850" cy="62481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0863" cy="6248273"/>
            </a:xfrm>
            <a:custGeom>
              <a:avLst/>
              <a:gdLst/>
              <a:ahLst/>
              <a:cxnLst/>
              <a:rect r="r" b="b" t="t" l="l"/>
              <a:pathLst>
                <a:path h="6248273" w="6650863">
                  <a:moveTo>
                    <a:pt x="0" y="499872"/>
                  </a:moveTo>
                  <a:cubicBezTo>
                    <a:pt x="0" y="223774"/>
                    <a:pt x="223774" y="0"/>
                    <a:pt x="499872" y="0"/>
                  </a:cubicBezTo>
                  <a:lnTo>
                    <a:pt x="6150991" y="0"/>
                  </a:lnTo>
                  <a:cubicBezTo>
                    <a:pt x="6427089" y="0"/>
                    <a:pt x="6650863" y="223774"/>
                    <a:pt x="6650863" y="499872"/>
                  </a:cubicBezTo>
                  <a:lnTo>
                    <a:pt x="6650863" y="5748401"/>
                  </a:lnTo>
                  <a:cubicBezTo>
                    <a:pt x="6650863" y="6024499"/>
                    <a:pt x="6427089" y="6248273"/>
                    <a:pt x="6150991" y="6248273"/>
                  </a:cubicBezTo>
                  <a:lnTo>
                    <a:pt x="499872" y="6248273"/>
                  </a:lnTo>
                  <a:cubicBezTo>
                    <a:pt x="223774" y="6248146"/>
                    <a:pt x="0" y="6024372"/>
                    <a:pt x="0" y="57484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138622" y="3010348"/>
            <a:ext cx="115148" cy="4686148"/>
            <a:chOff x="0" y="0"/>
            <a:chExt cx="153530" cy="62481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543" cy="6248146"/>
            </a:xfrm>
            <a:custGeom>
              <a:avLst/>
              <a:gdLst/>
              <a:ahLst/>
              <a:cxnLst/>
              <a:rect r="r" b="b" t="t" l="l"/>
              <a:pathLst>
                <a:path h="6248146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505020" y="3312319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R²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5020" y="3843461"/>
            <a:ext cx="4337685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0.7575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05020" y="4598432"/>
            <a:ext cx="4337685" cy="281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variance explained on the test path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2403" y="8098746"/>
            <a:ext cx="1573087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selected model is not the most complex. It is the best measured fit in this comparison.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LINEAR REGRESSION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14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13 / RANDOM FOREST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Random Forest is effectively tied, not better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82897"/>
            <a:ext cx="7294226" cy="5166589"/>
            <a:chOff x="0" y="0"/>
            <a:chExt cx="9725635" cy="6888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25533" cy="6888734"/>
            </a:xfrm>
            <a:custGeom>
              <a:avLst/>
              <a:gdLst/>
              <a:ahLst/>
              <a:cxnLst/>
              <a:rect r="r" b="b" t="t" l="l"/>
              <a:pathLst>
                <a:path h="6888734" w="9725533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9174480" y="0"/>
                  </a:lnTo>
                  <a:cubicBezTo>
                    <a:pt x="9478899" y="0"/>
                    <a:pt x="9725533" y="246761"/>
                    <a:pt x="9725533" y="551053"/>
                  </a:cubicBezTo>
                  <a:lnTo>
                    <a:pt x="9725533" y="6337681"/>
                  </a:lnTo>
                  <a:cubicBezTo>
                    <a:pt x="9725533" y="6642100"/>
                    <a:pt x="9478773" y="6888734"/>
                    <a:pt x="9174480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982897"/>
            <a:ext cx="115148" cy="5166589"/>
            <a:chOff x="0" y="0"/>
            <a:chExt cx="153530" cy="6888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888734"/>
            </a:xfrm>
            <a:custGeom>
              <a:avLst/>
              <a:gdLst/>
              <a:ahLst/>
              <a:cxnLst/>
              <a:rect r="r" b="b" t="t" l="l"/>
              <a:pathLst>
                <a:path h="688873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888734"/>
                  </a:lnTo>
                  <a:lnTo>
                    <a:pt x="0" y="688873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284868"/>
            <a:ext cx="6643773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MEASURED RESULT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16010"/>
            <a:ext cx="6643773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0.7567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570981"/>
            <a:ext cx="6643773" cy="329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R² on the test path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473583" y="2982897"/>
            <a:ext cx="8447275" cy="5166589"/>
            <a:chOff x="0" y="0"/>
            <a:chExt cx="11263033" cy="68887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62995" cy="6888734"/>
            </a:xfrm>
            <a:custGeom>
              <a:avLst/>
              <a:gdLst/>
              <a:ahLst/>
              <a:cxnLst/>
              <a:rect r="r" b="b" t="t" l="l"/>
              <a:pathLst>
                <a:path h="6888734" w="11262995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10711942" y="0"/>
                  </a:lnTo>
                  <a:cubicBezTo>
                    <a:pt x="11016361" y="0"/>
                    <a:pt x="11262995" y="246761"/>
                    <a:pt x="11262995" y="551053"/>
                  </a:cubicBezTo>
                  <a:lnTo>
                    <a:pt x="11262995" y="6337681"/>
                  </a:lnTo>
                  <a:cubicBezTo>
                    <a:pt x="11262995" y="6642100"/>
                    <a:pt x="11016235" y="6888734"/>
                    <a:pt x="10711942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473583" y="2982897"/>
            <a:ext cx="115148" cy="5166589"/>
            <a:chOff x="0" y="0"/>
            <a:chExt cx="153530" cy="68887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6888734"/>
            </a:xfrm>
            <a:custGeom>
              <a:avLst/>
              <a:gdLst/>
              <a:ahLst/>
              <a:cxnLst/>
              <a:rect r="r" b="b" t="t" l="l"/>
              <a:pathLst>
                <a:path h="688873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888734"/>
                  </a:lnTo>
                  <a:lnTo>
                    <a:pt x="0" y="688873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839991" y="3284868"/>
            <a:ext cx="7796822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CLOSE ENOUGH TO COMPARE.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39991" y="3816010"/>
            <a:ext cx="7796822" cy="404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MAE 0.4763 and RMSE 0.5849. The lift expected from added complexity does not appear in the recorded score.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RANDOM FOREST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15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14 / XGBOOST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XGBoost does not earn the extra weight here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82897"/>
            <a:ext cx="6882432" cy="5166589"/>
            <a:chOff x="0" y="0"/>
            <a:chExt cx="9176576" cy="6888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76512" cy="6888734"/>
            </a:xfrm>
            <a:custGeom>
              <a:avLst/>
              <a:gdLst/>
              <a:ahLst/>
              <a:cxnLst/>
              <a:rect r="r" b="b" t="t" l="l"/>
              <a:pathLst>
                <a:path h="6888734" w="9176512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8625459" y="0"/>
                  </a:lnTo>
                  <a:cubicBezTo>
                    <a:pt x="8929877" y="0"/>
                    <a:pt x="9176512" y="246761"/>
                    <a:pt x="9176512" y="551053"/>
                  </a:cubicBezTo>
                  <a:lnTo>
                    <a:pt x="9176512" y="6337681"/>
                  </a:lnTo>
                  <a:cubicBezTo>
                    <a:pt x="9176512" y="6642100"/>
                    <a:pt x="8929751" y="6888734"/>
                    <a:pt x="8625459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982897"/>
            <a:ext cx="115148" cy="5166589"/>
            <a:chOff x="0" y="0"/>
            <a:chExt cx="153530" cy="6888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888734"/>
            </a:xfrm>
            <a:custGeom>
              <a:avLst/>
              <a:gdLst/>
              <a:ahLst/>
              <a:cxnLst/>
              <a:rect r="r" b="b" t="t" l="l"/>
              <a:pathLst>
                <a:path h="688873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888734"/>
                  </a:lnTo>
                  <a:lnTo>
                    <a:pt x="0" y="688873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284868"/>
            <a:ext cx="6231979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MEASURED RESULT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16010"/>
            <a:ext cx="6231979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0.7565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570981"/>
            <a:ext cx="6231979" cy="329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R² on the test path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020602" y="2982897"/>
            <a:ext cx="8900255" cy="5166589"/>
            <a:chOff x="0" y="0"/>
            <a:chExt cx="11867007" cy="68887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67007" cy="6888734"/>
            </a:xfrm>
            <a:custGeom>
              <a:avLst/>
              <a:gdLst/>
              <a:ahLst/>
              <a:cxnLst/>
              <a:rect r="r" b="b" t="t" l="l"/>
              <a:pathLst>
                <a:path h="6888734" w="11867007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11315954" y="0"/>
                  </a:lnTo>
                  <a:cubicBezTo>
                    <a:pt x="11620373" y="0"/>
                    <a:pt x="11867007" y="246761"/>
                    <a:pt x="11867007" y="551053"/>
                  </a:cubicBezTo>
                  <a:lnTo>
                    <a:pt x="11867007" y="6337681"/>
                  </a:lnTo>
                  <a:cubicBezTo>
                    <a:pt x="11867007" y="6642100"/>
                    <a:pt x="11620247" y="6888734"/>
                    <a:pt x="11315954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020602" y="2982897"/>
            <a:ext cx="115148" cy="5166589"/>
            <a:chOff x="0" y="0"/>
            <a:chExt cx="153530" cy="68887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543" cy="6888734"/>
            </a:xfrm>
            <a:custGeom>
              <a:avLst/>
              <a:gdLst/>
              <a:ahLst/>
              <a:cxnLst/>
              <a:rect r="r" b="b" t="t" l="l"/>
              <a:pathLst>
                <a:path h="688873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888734"/>
                  </a:lnTo>
                  <a:lnTo>
                    <a:pt x="0" y="6888734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387010" y="3284868"/>
            <a:ext cx="8249803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ERROR PROFILE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7010" y="3816010"/>
            <a:ext cx="8249803" cy="404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0.4764  MAE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0.5852  RMSE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It is marginally behind Linear Regression on all three recorded metrics.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XGBOOST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16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15 / GRADIENT BOOSTING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Gradient Boosting nearly matches the winner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82897"/>
            <a:ext cx="5921559" cy="5166589"/>
            <a:chOff x="0" y="0"/>
            <a:chExt cx="7895412" cy="6888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95337" cy="6888734"/>
            </a:xfrm>
            <a:custGeom>
              <a:avLst/>
              <a:gdLst/>
              <a:ahLst/>
              <a:cxnLst/>
              <a:rect r="r" b="b" t="t" l="l"/>
              <a:pathLst>
                <a:path h="6888734" w="7895337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7344283" y="0"/>
                  </a:lnTo>
                  <a:cubicBezTo>
                    <a:pt x="7648702" y="0"/>
                    <a:pt x="7895337" y="246761"/>
                    <a:pt x="7895337" y="551053"/>
                  </a:cubicBezTo>
                  <a:lnTo>
                    <a:pt x="7895337" y="6337681"/>
                  </a:lnTo>
                  <a:cubicBezTo>
                    <a:pt x="7895337" y="6642100"/>
                    <a:pt x="7648575" y="6888734"/>
                    <a:pt x="7344283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982897"/>
            <a:ext cx="115148" cy="5166589"/>
            <a:chOff x="0" y="0"/>
            <a:chExt cx="153530" cy="6888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888734"/>
            </a:xfrm>
            <a:custGeom>
              <a:avLst/>
              <a:gdLst/>
              <a:ahLst/>
              <a:cxnLst/>
              <a:rect r="r" b="b" t="t" l="l"/>
              <a:pathLst>
                <a:path h="688873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888734"/>
                  </a:lnTo>
                  <a:lnTo>
                    <a:pt x="0" y="688873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284868"/>
            <a:ext cx="5271106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R²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16010"/>
            <a:ext cx="5271106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0.7574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44" y="4570981"/>
            <a:ext cx="5271106" cy="329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one ten-thousandth behind Linear Regression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059730" y="2982897"/>
            <a:ext cx="9861128" cy="5166589"/>
            <a:chOff x="0" y="0"/>
            <a:chExt cx="13148170" cy="68887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48056" cy="6888734"/>
            </a:xfrm>
            <a:custGeom>
              <a:avLst/>
              <a:gdLst/>
              <a:ahLst/>
              <a:cxnLst/>
              <a:rect r="r" b="b" t="t" l="l"/>
              <a:pathLst>
                <a:path h="6888734" w="13148056">
                  <a:moveTo>
                    <a:pt x="0" y="551053"/>
                  </a:moveTo>
                  <a:cubicBezTo>
                    <a:pt x="0" y="246761"/>
                    <a:pt x="246761" y="0"/>
                    <a:pt x="551053" y="0"/>
                  </a:cubicBezTo>
                  <a:lnTo>
                    <a:pt x="12597003" y="0"/>
                  </a:lnTo>
                  <a:cubicBezTo>
                    <a:pt x="12901422" y="0"/>
                    <a:pt x="13148056" y="246761"/>
                    <a:pt x="13148056" y="551053"/>
                  </a:cubicBezTo>
                  <a:lnTo>
                    <a:pt x="13148056" y="6337681"/>
                  </a:lnTo>
                  <a:cubicBezTo>
                    <a:pt x="13148056" y="6642100"/>
                    <a:pt x="12901295" y="6888734"/>
                    <a:pt x="12597003" y="6888734"/>
                  </a:cubicBezTo>
                  <a:lnTo>
                    <a:pt x="551053" y="6888734"/>
                  </a:lnTo>
                  <a:cubicBezTo>
                    <a:pt x="246761" y="6888734"/>
                    <a:pt x="0" y="6642100"/>
                    <a:pt x="0" y="63376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549677" y="3930025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Linear Regression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395328" y="3943760"/>
            <a:ext cx="5097951" cy="156334"/>
            <a:chOff x="0" y="0"/>
            <a:chExt cx="6797269" cy="2084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7294" cy="208407"/>
            </a:xfrm>
            <a:custGeom>
              <a:avLst/>
              <a:gdLst/>
              <a:ahLst/>
              <a:cxnLst/>
              <a:rect r="r" b="b" t="t" l="l"/>
              <a:pathLst>
                <a:path h="208407" w="6797294">
                  <a:moveTo>
                    <a:pt x="0" y="0"/>
                  </a:moveTo>
                  <a:lnTo>
                    <a:pt x="6797294" y="0"/>
                  </a:lnTo>
                  <a:lnTo>
                    <a:pt x="6797294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395328" y="3943760"/>
            <a:ext cx="5081245" cy="156334"/>
            <a:chOff x="0" y="0"/>
            <a:chExt cx="6774993" cy="2084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74942" cy="208407"/>
            </a:xfrm>
            <a:custGeom>
              <a:avLst/>
              <a:gdLst/>
              <a:ahLst/>
              <a:cxnLst/>
              <a:rect r="r" b="b" t="t" l="l"/>
              <a:pathLst>
                <a:path h="208407" w="6774942">
                  <a:moveTo>
                    <a:pt x="0" y="0"/>
                  </a:moveTo>
                  <a:lnTo>
                    <a:pt x="6774942" y="0"/>
                  </a:lnTo>
                  <a:lnTo>
                    <a:pt x="677494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5552353" y="3898363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0.7575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49677" y="5165427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Gradient Boosting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395328" y="5179171"/>
            <a:ext cx="5097951" cy="156334"/>
            <a:chOff x="0" y="0"/>
            <a:chExt cx="6797269" cy="2084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7294" cy="208407"/>
            </a:xfrm>
            <a:custGeom>
              <a:avLst/>
              <a:gdLst/>
              <a:ahLst/>
              <a:cxnLst/>
              <a:rect r="r" b="b" t="t" l="l"/>
              <a:pathLst>
                <a:path h="208407" w="6797294">
                  <a:moveTo>
                    <a:pt x="0" y="0"/>
                  </a:moveTo>
                  <a:lnTo>
                    <a:pt x="6797294" y="0"/>
                  </a:lnTo>
                  <a:lnTo>
                    <a:pt x="6797294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395328" y="5179171"/>
            <a:ext cx="5080578" cy="156334"/>
            <a:chOff x="0" y="0"/>
            <a:chExt cx="6774104" cy="2084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74053" cy="208407"/>
            </a:xfrm>
            <a:custGeom>
              <a:avLst/>
              <a:gdLst/>
              <a:ahLst/>
              <a:cxnLst/>
              <a:rect r="r" b="b" t="t" l="l"/>
              <a:pathLst>
                <a:path h="208407" w="6774053">
                  <a:moveTo>
                    <a:pt x="0" y="0"/>
                  </a:moveTo>
                  <a:lnTo>
                    <a:pt x="6774053" y="0"/>
                  </a:lnTo>
                  <a:lnTo>
                    <a:pt x="6774053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5552353" y="5133775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0.7574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49677" y="6410363"/>
            <a:ext cx="8318440" cy="97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difference is too small to justify making the deployed path harder to explain.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GRADIENT BOOSTING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SHEA/MODEL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17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16 / MODEL 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The scores converge; the simplest winner stays ahead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45622"/>
            <a:ext cx="10451373" cy="5441118"/>
            <a:chOff x="0" y="0"/>
            <a:chExt cx="13935164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35202" cy="7254875"/>
            </a:xfrm>
            <a:custGeom>
              <a:avLst/>
              <a:gdLst/>
              <a:ahLst/>
              <a:cxnLst/>
              <a:rect r="r" b="b" t="t" l="l"/>
              <a:pathLst>
                <a:path h="7254875" w="13935202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lnTo>
                    <a:pt x="13354813" y="0"/>
                  </a:lnTo>
                  <a:cubicBezTo>
                    <a:pt x="13675361" y="0"/>
                    <a:pt x="13935202" y="259842"/>
                    <a:pt x="13935202" y="580390"/>
                  </a:cubicBezTo>
                  <a:lnTo>
                    <a:pt x="13935202" y="6674485"/>
                  </a:lnTo>
                  <a:cubicBezTo>
                    <a:pt x="13935202" y="6995033"/>
                    <a:pt x="13675361" y="7254875"/>
                    <a:pt x="13354813" y="7254875"/>
                  </a:cubicBezTo>
                  <a:lnTo>
                    <a:pt x="580390" y="7254875"/>
                  </a:lnTo>
                  <a:cubicBezTo>
                    <a:pt x="259842" y="7254875"/>
                    <a:pt x="0" y="6995033"/>
                    <a:pt x="0" y="66744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94206" y="3243691"/>
            <a:ext cx="4063155" cy="2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R² / HIGHER IS BETTER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206" y="3998662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Linear Regression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39848" y="4012397"/>
            <a:ext cx="5509755" cy="156334"/>
            <a:chOff x="0" y="0"/>
            <a:chExt cx="7346340" cy="208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6315" cy="208407"/>
            </a:xfrm>
            <a:custGeom>
              <a:avLst/>
              <a:gdLst/>
              <a:ahLst/>
              <a:cxnLst/>
              <a:rect r="r" b="b" t="t" l="l"/>
              <a:pathLst>
                <a:path h="208407" w="7346315">
                  <a:moveTo>
                    <a:pt x="0" y="0"/>
                  </a:moveTo>
                  <a:lnTo>
                    <a:pt x="7346315" y="0"/>
                  </a:lnTo>
                  <a:lnTo>
                    <a:pt x="7346315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039848" y="4012397"/>
            <a:ext cx="5491696" cy="156334"/>
            <a:chOff x="0" y="0"/>
            <a:chExt cx="7322261" cy="2084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2312" cy="208407"/>
            </a:xfrm>
            <a:custGeom>
              <a:avLst/>
              <a:gdLst/>
              <a:ahLst/>
              <a:cxnLst/>
              <a:rect r="r" b="b" t="t" l="l"/>
              <a:pathLst>
                <a:path h="208407" w="7322312">
                  <a:moveTo>
                    <a:pt x="0" y="0"/>
                  </a:moveTo>
                  <a:lnTo>
                    <a:pt x="7322312" y="0"/>
                  </a:lnTo>
                  <a:lnTo>
                    <a:pt x="7322312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08687" y="3967001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0.7575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206" y="4726172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Gradient Boosting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39848" y="4739916"/>
            <a:ext cx="5509755" cy="156334"/>
            <a:chOff x="0" y="0"/>
            <a:chExt cx="7346340" cy="2084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6315" cy="208407"/>
            </a:xfrm>
            <a:custGeom>
              <a:avLst/>
              <a:gdLst/>
              <a:ahLst/>
              <a:cxnLst/>
              <a:rect r="r" b="b" t="t" l="l"/>
              <a:pathLst>
                <a:path h="208407" w="7346315">
                  <a:moveTo>
                    <a:pt x="0" y="0"/>
                  </a:moveTo>
                  <a:lnTo>
                    <a:pt x="7346315" y="0"/>
                  </a:lnTo>
                  <a:lnTo>
                    <a:pt x="7346315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039848" y="4739916"/>
            <a:ext cx="5490972" cy="156334"/>
            <a:chOff x="0" y="0"/>
            <a:chExt cx="7321296" cy="2084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21296" cy="208407"/>
            </a:xfrm>
            <a:custGeom>
              <a:avLst/>
              <a:gdLst/>
              <a:ahLst/>
              <a:cxnLst/>
              <a:rect r="r" b="b" t="t" l="l"/>
              <a:pathLst>
                <a:path h="208407" w="7321296">
                  <a:moveTo>
                    <a:pt x="0" y="0"/>
                  </a:moveTo>
                  <a:lnTo>
                    <a:pt x="7321296" y="0"/>
                  </a:lnTo>
                  <a:lnTo>
                    <a:pt x="7321296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608687" y="4694520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0.7574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4206" y="5453691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Random Forest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39848" y="5467426"/>
            <a:ext cx="5509755" cy="156334"/>
            <a:chOff x="0" y="0"/>
            <a:chExt cx="7346340" cy="2084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6315" cy="208407"/>
            </a:xfrm>
            <a:custGeom>
              <a:avLst/>
              <a:gdLst/>
              <a:ahLst/>
              <a:cxnLst/>
              <a:rect r="r" b="b" t="t" l="l"/>
              <a:pathLst>
                <a:path h="208407" w="7346315">
                  <a:moveTo>
                    <a:pt x="0" y="0"/>
                  </a:moveTo>
                  <a:lnTo>
                    <a:pt x="7346315" y="0"/>
                  </a:lnTo>
                  <a:lnTo>
                    <a:pt x="7346315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039848" y="5467426"/>
            <a:ext cx="5485914" cy="156334"/>
            <a:chOff x="0" y="0"/>
            <a:chExt cx="7314552" cy="2084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4565" cy="208407"/>
            </a:xfrm>
            <a:custGeom>
              <a:avLst/>
              <a:gdLst/>
              <a:ahLst/>
              <a:cxnLst/>
              <a:rect r="r" b="b" t="t" l="l"/>
              <a:pathLst>
                <a:path h="208407" w="7314565">
                  <a:moveTo>
                    <a:pt x="0" y="0"/>
                  </a:moveTo>
                  <a:lnTo>
                    <a:pt x="7314565" y="0"/>
                  </a:lnTo>
                  <a:lnTo>
                    <a:pt x="7314565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608687" y="5422030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0.7567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4206" y="6181211"/>
            <a:ext cx="282774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XGBoost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039848" y="6194946"/>
            <a:ext cx="5509755" cy="156334"/>
            <a:chOff x="0" y="0"/>
            <a:chExt cx="7346340" cy="2084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46315" cy="208407"/>
            </a:xfrm>
            <a:custGeom>
              <a:avLst/>
              <a:gdLst/>
              <a:ahLst/>
              <a:cxnLst/>
              <a:rect r="r" b="b" t="t" l="l"/>
              <a:pathLst>
                <a:path h="208407" w="7346315">
                  <a:moveTo>
                    <a:pt x="0" y="0"/>
                  </a:moveTo>
                  <a:lnTo>
                    <a:pt x="7346315" y="0"/>
                  </a:lnTo>
                  <a:lnTo>
                    <a:pt x="7346315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EBF4FF"/>
            </a:solidFill>
            <a:ln w="19065" cap="sq">
              <a:solidFill>
                <a:srgbClr val="EBF4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039848" y="6194946"/>
            <a:ext cx="5484466" cy="156334"/>
            <a:chOff x="0" y="0"/>
            <a:chExt cx="7312622" cy="2084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2660" cy="208407"/>
            </a:xfrm>
            <a:custGeom>
              <a:avLst/>
              <a:gdLst/>
              <a:ahLst/>
              <a:cxnLst/>
              <a:rect r="r" b="b" t="t" l="l"/>
              <a:pathLst>
                <a:path h="208407" w="7312660">
                  <a:moveTo>
                    <a:pt x="0" y="0"/>
                  </a:moveTo>
                  <a:lnTo>
                    <a:pt x="7312660" y="0"/>
                  </a:lnTo>
                  <a:lnTo>
                    <a:pt x="7312660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608687" y="6149550"/>
            <a:ext cx="79619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0.7565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4206" y="7183260"/>
            <a:ext cx="9142038" cy="42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RMSE / LOWER IS BETTER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C84"/>
                </a:solidFill>
                <a:latin typeface="Aptos"/>
                <a:ea typeface="Aptos"/>
                <a:cs typeface="Aptos"/>
                <a:sym typeface="Aptos"/>
              </a:rPr>
              <a:t>0.5840–0.5852 kWh across the four models.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658181" y="2845622"/>
            <a:ext cx="5262677" cy="5441118"/>
            <a:chOff x="0" y="0"/>
            <a:chExt cx="7016902" cy="7254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16877" cy="7254875"/>
            </a:xfrm>
            <a:custGeom>
              <a:avLst/>
              <a:gdLst/>
              <a:ahLst/>
              <a:cxnLst/>
              <a:rect r="r" b="b" t="t" l="l"/>
              <a:pathLst>
                <a:path h="7254875" w="7016877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lnTo>
                    <a:pt x="6455537" y="0"/>
                  </a:lnTo>
                  <a:cubicBezTo>
                    <a:pt x="6765544" y="0"/>
                    <a:pt x="7016877" y="251333"/>
                    <a:pt x="7016877" y="561340"/>
                  </a:cubicBezTo>
                  <a:lnTo>
                    <a:pt x="7016877" y="6693535"/>
                  </a:lnTo>
                  <a:cubicBezTo>
                    <a:pt x="7016877" y="7003542"/>
                    <a:pt x="6765544" y="7254875"/>
                    <a:pt x="6455537" y="7254875"/>
                  </a:cubicBezTo>
                  <a:lnTo>
                    <a:pt x="561340" y="7254875"/>
                  </a:lnTo>
                  <a:cubicBezTo>
                    <a:pt x="251333" y="7254875"/>
                    <a:pt x="0" y="7003542"/>
                    <a:pt x="0" y="66935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181" y="2845622"/>
            <a:ext cx="115148" cy="5441118"/>
            <a:chOff x="0" y="0"/>
            <a:chExt cx="153530" cy="7254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3543" cy="7254875"/>
            </a:xfrm>
            <a:custGeom>
              <a:avLst/>
              <a:gdLst/>
              <a:ahLst/>
              <a:cxnLst/>
              <a:rect r="r" b="b" t="t" l="l"/>
              <a:pathLst>
                <a:path h="725487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254875"/>
                  </a:lnTo>
                  <a:lnTo>
                    <a:pt x="0" y="725487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024589" y="3147603"/>
            <a:ext cx="4612224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DECISION RULE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24589" y="3678736"/>
            <a:ext cx="4612224" cy="432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score + clarity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Select the model that performs well and stays easy to inspect in a user-facing flow.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2403" y="8716451"/>
            <a:ext cx="10926518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ALL FOUR REGRESSORS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SHEA/THE SELECTED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18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17 / WHY LINEAR REGRESSION WAS SELECTED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The selection is measured, explainable, and deployable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82897"/>
            <a:ext cx="4988138" cy="4892050"/>
            <a:chOff x="0" y="0"/>
            <a:chExt cx="6650850" cy="6522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50863" cy="6522720"/>
            </a:xfrm>
            <a:custGeom>
              <a:avLst/>
              <a:gdLst/>
              <a:ahLst/>
              <a:cxnLst/>
              <a:rect r="r" b="b" t="t" l="l"/>
              <a:pathLst>
                <a:path h="6522720" w="6650863">
                  <a:moveTo>
                    <a:pt x="0" y="521843"/>
                  </a:moveTo>
                  <a:cubicBezTo>
                    <a:pt x="0" y="233680"/>
                    <a:pt x="233680" y="0"/>
                    <a:pt x="521843" y="0"/>
                  </a:cubicBezTo>
                  <a:lnTo>
                    <a:pt x="6129020" y="0"/>
                  </a:lnTo>
                  <a:cubicBezTo>
                    <a:pt x="6417183" y="0"/>
                    <a:pt x="6650863" y="233680"/>
                    <a:pt x="6650863" y="521843"/>
                  </a:cubicBezTo>
                  <a:lnTo>
                    <a:pt x="6650863" y="6000877"/>
                  </a:lnTo>
                  <a:cubicBezTo>
                    <a:pt x="6650863" y="6289040"/>
                    <a:pt x="6417183" y="6522720"/>
                    <a:pt x="6129020" y="6522720"/>
                  </a:cubicBezTo>
                  <a:lnTo>
                    <a:pt x="521843" y="6522720"/>
                  </a:lnTo>
                  <a:cubicBezTo>
                    <a:pt x="233680" y="6522720"/>
                    <a:pt x="0" y="6289167"/>
                    <a:pt x="0" y="60008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982897"/>
            <a:ext cx="115148" cy="4892050"/>
            <a:chOff x="0" y="0"/>
            <a:chExt cx="153530" cy="65227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6522720"/>
            </a:xfrm>
            <a:custGeom>
              <a:avLst/>
              <a:gdLst/>
              <a:ahLst/>
              <a:cxnLst/>
              <a:rect r="r" b="b" t="t" l="l"/>
              <a:pathLst>
                <a:path h="652272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22720"/>
                  </a:lnTo>
                  <a:lnTo>
                    <a:pt x="0" y="6522720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284868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BEST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816010"/>
            <a:ext cx="4337685" cy="377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R² 0.7575 — the highest recorded in the comparison.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42024" y="2982897"/>
            <a:ext cx="4988138" cy="4892050"/>
            <a:chOff x="0" y="0"/>
            <a:chExt cx="6650850" cy="65227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50863" cy="6522720"/>
            </a:xfrm>
            <a:custGeom>
              <a:avLst/>
              <a:gdLst/>
              <a:ahLst/>
              <a:cxnLst/>
              <a:rect r="r" b="b" t="t" l="l"/>
              <a:pathLst>
                <a:path h="6522720" w="6650863">
                  <a:moveTo>
                    <a:pt x="0" y="521843"/>
                  </a:moveTo>
                  <a:cubicBezTo>
                    <a:pt x="0" y="233680"/>
                    <a:pt x="233680" y="0"/>
                    <a:pt x="521843" y="0"/>
                  </a:cubicBezTo>
                  <a:lnTo>
                    <a:pt x="6129020" y="0"/>
                  </a:lnTo>
                  <a:cubicBezTo>
                    <a:pt x="6417183" y="0"/>
                    <a:pt x="6650863" y="233680"/>
                    <a:pt x="6650863" y="521843"/>
                  </a:cubicBezTo>
                  <a:lnTo>
                    <a:pt x="6650863" y="6000877"/>
                  </a:lnTo>
                  <a:cubicBezTo>
                    <a:pt x="6650863" y="6289040"/>
                    <a:pt x="6417183" y="6522720"/>
                    <a:pt x="6129020" y="6522720"/>
                  </a:cubicBezTo>
                  <a:lnTo>
                    <a:pt x="521843" y="6522720"/>
                  </a:lnTo>
                  <a:cubicBezTo>
                    <a:pt x="233680" y="6522720"/>
                    <a:pt x="0" y="6289167"/>
                    <a:pt x="0" y="60008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42024" y="2982897"/>
            <a:ext cx="115148" cy="4892050"/>
            <a:chOff x="0" y="0"/>
            <a:chExt cx="153530" cy="65227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6522720"/>
            </a:xfrm>
            <a:custGeom>
              <a:avLst/>
              <a:gdLst/>
              <a:ahLst/>
              <a:cxnLst/>
              <a:rect r="r" b="b" t="t" l="l"/>
              <a:pathLst>
                <a:path h="652272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22720"/>
                  </a:lnTo>
                  <a:lnTo>
                    <a:pt x="0" y="6522720"/>
                  </a:lnTo>
                  <a:close/>
                </a:path>
              </a:pathLst>
            </a:custGeom>
            <a:solidFill>
              <a:srgbClr val="0D264C"/>
            </a:solidFill>
            <a:ln w="19065" cap="sq">
              <a:solidFill>
                <a:srgbClr val="0D264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808432" y="3284868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02 / LEAST COMPLEXITY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08432" y="3816010"/>
            <a:ext cx="4337685" cy="377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 direct baseline is easier to inspect and explain to a household.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38622" y="2982897"/>
            <a:ext cx="4988138" cy="4892050"/>
            <a:chOff x="0" y="0"/>
            <a:chExt cx="6650850" cy="65227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0863" cy="6522720"/>
            </a:xfrm>
            <a:custGeom>
              <a:avLst/>
              <a:gdLst/>
              <a:ahLst/>
              <a:cxnLst/>
              <a:rect r="r" b="b" t="t" l="l"/>
              <a:pathLst>
                <a:path h="6522720" w="6650863">
                  <a:moveTo>
                    <a:pt x="0" y="521843"/>
                  </a:moveTo>
                  <a:cubicBezTo>
                    <a:pt x="0" y="233680"/>
                    <a:pt x="233680" y="0"/>
                    <a:pt x="521843" y="0"/>
                  </a:cubicBezTo>
                  <a:lnTo>
                    <a:pt x="6129020" y="0"/>
                  </a:lnTo>
                  <a:cubicBezTo>
                    <a:pt x="6417183" y="0"/>
                    <a:pt x="6650863" y="233680"/>
                    <a:pt x="6650863" y="521843"/>
                  </a:cubicBezTo>
                  <a:lnTo>
                    <a:pt x="6650863" y="6000877"/>
                  </a:lnTo>
                  <a:cubicBezTo>
                    <a:pt x="6650863" y="6289040"/>
                    <a:pt x="6417183" y="6522720"/>
                    <a:pt x="6129020" y="6522720"/>
                  </a:cubicBezTo>
                  <a:lnTo>
                    <a:pt x="521843" y="6522720"/>
                  </a:lnTo>
                  <a:cubicBezTo>
                    <a:pt x="233680" y="6522720"/>
                    <a:pt x="0" y="6289167"/>
                    <a:pt x="0" y="60008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8622" y="2982897"/>
            <a:ext cx="115148" cy="4892050"/>
            <a:chOff x="0" y="0"/>
            <a:chExt cx="153530" cy="65227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543" cy="6522720"/>
            </a:xfrm>
            <a:custGeom>
              <a:avLst/>
              <a:gdLst/>
              <a:ahLst/>
              <a:cxnLst/>
              <a:rect r="r" b="b" t="t" l="l"/>
              <a:pathLst>
                <a:path h="6522720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522720"/>
                  </a:lnTo>
                  <a:lnTo>
                    <a:pt x="0" y="6522720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505020" y="3284868"/>
            <a:ext cx="4337685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03 / ALREADY SAVED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05020" y="3816010"/>
            <a:ext cx="4337685" cy="377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deployment artifacts and metadata point to Linear Regression.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2403" y="8263471"/>
            <a:ext cx="818117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42236"/>
                </a:solidFill>
                <a:latin typeface="Aptos Bold"/>
                <a:ea typeface="Aptos Bold"/>
                <a:cs typeface="Aptos Bold"/>
                <a:sym typeface="Aptos Bold"/>
              </a:rPr>
              <a:t>Final model: Linear Regression.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2403" y="8716451"/>
            <a:ext cx="1229918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SAVED MODEL METADATA / BEST_MODEL_NAME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SHEA/WHAT COMES NEXT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19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18 / NEXT STEPS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Make the estimate more useful without overstating it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73083"/>
            <a:ext cx="9421873" cy="1391736"/>
            <a:chOff x="0" y="0"/>
            <a:chExt cx="12562497" cy="1855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62459" cy="1855724"/>
            </a:xfrm>
            <a:custGeom>
              <a:avLst/>
              <a:gdLst/>
              <a:ahLst/>
              <a:cxnLst/>
              <a:rect r="r" b="b" t="t" l="l"/>
              <a:pathLst>
                <a:path h="1855724" w="1256245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13996" y="0"/>
                  </a:lnTo>
                  <a:cubicBezTo>
                    <a:pt x="12496038" y="0"/>
                    <a:pt x="12562459" y="66421"/>
                    <a:pt x="12562459" y="148463"/>
                  </a:cubicBezTo>
                  <a:lnTo>
                    <a:pt x="12562459" y="1707261"/>
                  </a:lnTo>
                  <a:cubicBezTo>
                    <a:pt x="12562459" y="1789303"/>
                    <a:pt x="12496038" y="1855724"/>
                    <a:pt x="12413996" y="1855724"/>
                  </a:cubicBezTo>
                  <a:lnTo>
                    <a:pt x="148463" y="1855724"/>
                  </a:lnTo>
                  <a:cubicBezTo>
                    <a:pt x="66421" y="1855597"/>
                    <a:pt x="0" y="1789176"/>
                    <a:pt x="0" y="170726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73083"/>
            <a:ext cx="115148" cy="1391736"/>
            <a:chOff x="0" y="0"/>
            <a:chExt cx="153530" cy="1855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1855597"/>
            </a:xfrm>
            <a:custGeom>
              <a:avLst/>
              <a:gdLst/>
              <a:ahLst/>
              <a:cxnLst/>
              <a:rect r="r" b="b" t="t" l="l"/>
              <a:pathLst>
                <a:path h="1855597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75054"/>
            <a:ext cx="877142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VALIDATE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706197"/>
            <a:ext cx="8771420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Compare predictions against real household bills.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5436" y="4547740"/>
            <a:ext cx="9421873" cy="1391736"/>
            <a:chOff x="0" y="0"/>
            <a:chExt cx="12562497" cy="1855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62459" cy="1855724"/>
            </a:xfrm>
            <a:custGeom>
              <a:avLst/>
              <a:gdLst/>
              <a:ahLst/>
              <a:cxnLst/>
              <a:rect r="r" b="b" t="t" l="l"/>
              <a:pathLst>
                <a:path h="1855724" w="1256245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13996" y="0"/>
                  </a:lnTo>
                  <a:cubicBezTo>
                    <a:pt x="12496038" y="0"/>
                    <a:pt x="12562459" y="66421"/>
                    <a:pt x="12562459" y="148463"/>
                  </a:cubicBezTo>
                  <a:lnTo>
                    <a:pt x="12562459" y="1707261"/>
                  </a:lnTo>
                  <a:cubicBezTo>
                    <a:pt x="12562459" y="1789303"/>
                    <a:pt x="12496038" y="1855724"/>
                    <a:pt x="12413996" y="1855724"/>
                  </a:cubicBezTo>
                  <a:lnTo>
                    <a:pt x="148463" y="1855724"/>
                  </a:lnTo>
                  <a:cubicBezTo>
                    <a:pt x="66421" y="1855597"/>
                    <a:pt x="0" y="1789176"/>
                    <a:pt x="0" y="170726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45436" y="4547740"/>
            <a:ext cx="115148" cy="1391736"/>
            <a:chOff x="0" y="0"/>
            <a:chExt cx="153530" cy="18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1855597"/>
            </a:xfrm>
            <a:custGeom>
              <a:avLst/>
              <a:gdLst/>
              <a:ahLst/>
              <a:cxnLst/>
              <a:rect r="r" b="b" t="t" l="l"/>
              <a:pathLst>
                <a:path h="1855597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11844" y="4849711"/>
            <a:ext cx="877142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EXTEND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1844" y="5380853"/>
            <a:ext cx="8771420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Add richer tariff and device telemetry inputs.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5436" y="6222397"/>
            <a:ext cx="9421873" cy="1391736"/>
            <a:chOff x="0" y="0"/>
            <a:chExt cx="12562497" cy="1855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62459" cy="1855724"/>
            </a:xfrm>
            <a:custGeom>
              <a:avLst/>
              <a:gdLst/>
              <a:ahLst/>
              <a:cxnLst/>
              <a:rect r="r" b="b" t="t" l="l"/>
              <a:pathLst>
                <a:path h="1855724" w="1256245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13996" y="0"/>
                  </a:lnTo>
                  <a:cubicBezTo>
                    <a:pt x="12496038" y="0"/>
                    <a:pt x="12562459" y="66421"/>
                    <a:pt x="12562459" y="148463"/>
                  </a:cubicBezTo>
                  <a:lnTo>
                    <a:pt x="12562459" y="1707261"/>
                  </a:lnTo>
                  <a:cubicBezTo>
                    <a:pt x="12562459" y="1789303"/>
                    <a:pt x="12496038" y="1855724"/>
                    <a:pt x="12413996" y="1855724"/>
                  </a:cubicBezTo>
                  <a:lnTo>
                    <a:pt x="148463" y="1855724"/>
                  </a:lnTo>
                  <a:cubicBezTo>
                    <a:pt x="66421" y="1855597"/>
                    <a:pt x="0" y="1789176"/>
                    <a:pt x="0" y="170726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45436" y="6222397"/>
            <a:ext cx="115148" cy="1391736"/>
            <a:chOff x="0" y="0"/>
            <a:chExt cx="153530" cy="18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543" cy="1855597"/>
            </a:xfrm>
            <a:custGeom>
              <a:avLst/>
              <a:gdLst/>
              <a:ahLst/>
              <a:cxnLst/>
              <a:rect r="r" b="b" t="t" l="l"/>
              <a:pathLst>
                <a:path h="1855597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11844" y="6524377"/>
            <a:ext cx="8771420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03 / OBSERVE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1844" y="7055510"/>
            <a:ext cx="8771420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Track error and recommendations after deployment.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87495" y="2873083"/>
            <a:ext cx="6333353" cy="5097951"/>
            <a:chOff x="0" y="0"/>
            <a:chExt cx="8444471" cy="67972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44484" cy="6797294"/>
            </a:xfrm>
            <a:custGeom>
              <a:avLst/>
              <a:gdLst/>
              <a:ahLst/>
              <a:cxnLst/>
              <a:rect r="r" b="b" t="t" l="l"/>
              <a:pathLst>
                <a:path h="6797294" w="8444484">
                  <a:moveTo>
                    <a:pt x="0" y="543814"/>
                  </a:moveTo>
                  <a:cubicBezTo>
                    <a:pt x="0" y="243459"/>
                    <a:pt x="243459" y="0"/>
                    <a:pt x="543814" y="0"/>
                  </a:cubicBezTo>
                  <a:lnTo>
                    <a:pt x="7900670" y="0"/>
                  </a:lnTo>
                  <a:cubicBezTo>
                    <a:pt x="8201025" y="0"/>
                    <a:pt x="8444484" y="243459"/>
                    <a:pt x="8444484" y="543814"/>
                  </a:cubicBezTo>
                  <a:lnTo>
                    <a:pt x="8444484" y="6253480"/>
                  </a:lnTo>
                  <a:cubicBezTo>
                    <a:pt x="8444484" y="6553835"/>
                    <a:pt x="8201025" y="6797294"/>
                    <a:pt x="7900670" y="6797294"/>
                  </a:cubicBezTo>
                  <a:lnTo>
                    <a:pt x="543814" y="6797294"/>
                  </a:lnTo>
                  <a:cubicBezTo>
                    <a:pt x="243459" y="6797294"/>
                    <a:pt x="0" y="6553835"/>
                    <a:pt x="0" y="62534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587495" y="2873083"/>
            <a:ext cx="115148" cy="5097951"/>
            <a:chOff x="0" y="0"/>
            <a:chExt cx="153530" cy="67972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543" cy="6797294"/>
            </a:xfrm>
            <a:custGeom>
              <a:avLst/>
              <a:gdLst/>
              <a:ahLst/>
              <a:cxnLst/>
              <a:rect r="r" b="b" t="t" l="l"/>
              <a:pathLst>
                <a:path h="6797294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6797294"/>
                  </a:lnTo>
                  <a:lnTo>
                    <a:pt x="0" y="6797294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0953902" y="3175054"/>
            <a:ext cx="568290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PROJECT LIMIT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53902" y="3706197"/>
            <a:ext cx="5682901" cy="39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Directional bill estimate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The tariff calculator is a project estimate. It should not be presented as a measured utility bill until validated against real billing data.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2403" y="8716451"/>
            <a:ext cx="13671861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DEPLOYMENT CODE / PROJECT LIMITATION CALLED OUT EXPLICITLY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SHEA/FROM MODEL TO 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20 /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19 / DEPLOYMENT AND USER JOURNEY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A small interaction turns the model into a recommendation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04446"/>
            <a:ext cx="5756834" cy="5441118"/>
            <a:chOff x="0" y="0"/>
            <a:chExt cx="7675778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75753" cy="7254875"/>
            </a:xfrm>
            <a:custGeom>
              <a:avLst/>
              <a:gdLst/>
              <a:ahLst/>
              <a:cxnLst/>
              <a:rect r="r" b="b" t="t" l="l"/>
              <a:pathLst>
                <a:path h="7254875" w="7675753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lnTo>
                    <a:pt x="7095363" y="0"/>
                  </a:lnTo>
                  <a:cubicBezTo>
                    <a:pt x="7415911" y="0"/>
                    <a:pt x="7675753" y="259842"/>
                    <a:pt x="7675753" y="580390"/>
                  </a:cubicBezTo>
                  <a:lnTo>
                    <a:pt x="7675753" y="6674485"/>
                  </a:lnTo>
                  <a:cubicBezTo>
                    <a:pt x="7675753" y="6995033"/>
                    <a:pt x="7415911" y="7254875"/>
                    <a:pt x="7095363" y="7254875"/>
                  </a:cubicBezTo>
                  <a:lnTo>
                    <a:pt x="580390" y="7254875"/>
                  </a:lnTo>
                  <a:cubicBezTo>
                    <a:pt x="259842" y="7254875"/>
                    <a:pt x="0" y="6995033"/>
                    <a:pt x="0" y="66744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5436" y="2804446"/>
            <a:ext cx="115148" cy="5441118"/>
            <a:chOff x="0" y="0"/>
            <a:chExt cx="153530" cy="7254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43" cy="7254875"/>
            </a:xfrm>
            <a:custGeom>
              <a:avLst/>
              <a:gdLst/>
              <a:ahLst/>
              <a:cxnLst/>
              <a:rect r="r" b="b" t="t" l="l"/>
              <a:pathLst>
                <a:path h="7254875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7254875"/>
                  </a:lnTo>
                  <a:lnTo>
                    <a:pt x="0" y="725487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11844" y="3106417"/>
            <a:ext cx="510638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SAVED DEPLOYMENT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844" y="3637559"/>
            <a:ext cx="5106381" cy="432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Linear Regression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best_model.joblib +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scaler_aux.joblib + meta.json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95014" y="2804446"/>
            <a:ext cx="10025844" cy="1501550"/>
            <a:chOff x="0" y="0"/>
            <a:chExt cx="13367791" cy="20020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67765" cy="2002028"/>
            </a:xfrm>
            <a:custGeom>
              <a:avLst/>
              <a:gdLst/>
              <a:ahLst/>
              <a:cxnLst/>
              <a:rect r="r" b="b" t="t" l="l"/>
              <a:pathLst>
                <a:path h="2002028" w="13367765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3207619" y="0"/>
                  </a:lnTo>
                  <a:cubicBezTo>
                    <a:pt x="13296137" y="0"/>
                    <a:pt x="13367765" y="71755"/>
                    <a:pt x="13367765" y="160147"/>
                  </a:cubicBezTo>
                  <a:lnTo>
                    <a:pt x="13367765" y="1841881"/>
                  </a:lnTo>
                  <a:cubicBezTo>
                    <a:pt x="13367765" y="1930400"/>
                    <a:pt x="13296010" y="2002028"/>
                    <a:pt x="13207619" y="2002028"/>
                  </a:cubicBezTo>
                  <a:lnTo>
                    <a:pt x="160147" y="2002028"/>
                  </a:lnTo>
                  <a:cubicBezTo>
                    <a:pt x="71755" y="2002028"/>
                    <a:pt x="0" y="1930400"/>
                    <a:pt x="0" y="18418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95014" y="2804446"/>
            <a:ext cx="115148" cy="1501550"/>
            <a:chOff x="0" y="0"/>
            <a:chExt cx="153530" cy="20020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43" cy="2002028"/>
            </a:xfrm>
            <a:custGeom>
              <a:avLst/>
              <a:gdLst/>
              <a:ahLst/>
              <a:cxnLst/>
              <a:rect r="r" b="b" t="t" l="l"/>
              <a:pathLst>
                <a:path h="200202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002028"/>
                  </a:lnTo>
                  <a:lnTo>
                    <a:pt x="0" y="2002028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261412" y="3106417"/>
            <a:ext cx="937539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01 / HOUSEHOLD INPUT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1412" y="3637559"/>
            <a:ext cx="9375391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Select devices, usage level, and budget.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95014" y="4630103"/>
            <a:ext cx="10025844" cy="1501550"/>
            <a:chOff x="0" y="0"/>
            <a:chExt cx="13367791" cy="20020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7765" cy="2002028"/>
            </a:xfrm>
            <a:custGeom>
              <a:avLst/>
              <a:gdLst/>
              <a:ahLst/>
              <a:cxnLst/>
              <a:rect r="r" b="b" t="t" l="l"/>
              <a:pathLst>
                <a:path h="2002028" w="13367765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3207619" y="0"/>
                  </a:lnTo>
                  <a:cubicBezTo>
                    <a:pt x="13296137" y="0"/>
                    <a:pt x="13367765" y="71755"/>
                    <a:pt x="13367765" y="160147"/>
                  </a:cubicBezTo>
                  <a:lnTo>
                    <a:pt x="13367765" y="1841881"/>
                  </a:lnTo>
                  <a:cubicBezTo>
                    <a:pt x="13367765" y="1930400"/>
                    <a:pt x="13296010" y="2002028"/>
                    <a:pt x="13207619" y="2002028"/>
                  </a:cubicBezTo>
                  <a:lnTo>
                    <a:pt x="160147" y="2002028"/>
                  </a:lnTo>
                  <a:cubicBezTo>
                    <a:pt x="71755" y="2002028"/>
                    <a:pt x="0" y="1930400"/>
                    <a:pt x="0" y="18418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95014" y="4630103"/>
            <a:ext cx="115148" cy="1501550"/>
            <a:chOff x="0" y="0"/>
            <a:chExt cx="153530" cy="2002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543" cy="2002028"/>
            </a:xfrm>
            <a:custGeom>
              <a:avLst/>
              <a:gdLst/>
              <a:ahLst/>
              <a:cxnLst/>
              <a:rect r="r" b="b" t="t" l="l"/>
              <a:pathLst>
                <a:path h="200202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002028"/>
                  </a:lnTo>
                  <a:lnTo>
                    <a:pt x="0" y="2002028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261412" y="4932074"/>
            <a:ext cx="937539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02 / ADVISOR OUTPUT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1412" y="5463216"/>
            <a:ext cx="9375391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Predicted kWh, estimated bill, budget status.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95014" y="6455759"/>
            <a:ext cx="10025844" cy="1501550"/>
            <a:chOff x="0" y="0"/>
            <a:chExt cx="13367791" cy="20020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67765" cy="2002028"/>
            </a:xfrm>
            <a:custGeom>
              <a:avLst/>
              <a:gdLst/>
              <a:ahLst/>
              <a:cxnLst/>
              <a:rect r="r" b="b" t="t" l="l"/>
              <a:pathLst>
                <a:path h="2002028" w="13367765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3207619" y="0"/>
                  </a:lnTo>
                  <a:cubicBezTo>
                    <a:pt x="13296137" y="0"/>
                    <a:pt x="13367765" y="71755"/>
                    <a:pt x="13367765" y="160147"/>
                  </a:cubicBezTo>
                  <a:lnTo>
                    <a:pt x="13367765" y="1841881"/>
                  </a:lnTo>
                  <a:cubicBezTo>
                    <a:pt x="13367765" y="1930400"/>
                    <a:pt x="13296010" y="2002028"/>
                    <a:pt x="13207619" y="2002028"/>
                  </a:cubicBezTo>
                  <a:lnTo>
                    <a:pt x="160147" y="2002028"/>
                  </a:lnTo>
                  <a:cubicBezTo>
                    <a:pt x="71755" y="2002028"/>
                    <a:pt x="0" y="1930400"/>
                    <a:pt x="0" y="184188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95014" y="6455759"/>
            <a:ext cx="115148" cy="1501550"/>
            <a:chOff x="0" y="0"/>
            <a:chExt cx="153530" cy="2002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543" cy="2002028"/>
            </a:xfrm>
            <a:custGeom>
              <a:avLst/>
              <a:gdLst/>
              <a:ahLst/>
              <a:cxnLst/>
              <a:rect r="r" b="b" t="t" l="l"/>
              <a:pathLst>
                <a:path h="2002028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2002028"/>
                  </a:lnTo>
                  <a:lnTo>
                    <a:pt x="0" y="2002028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7261412" y="6757730"/>
            <a:ext cx="937539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03 / ACTION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61412" y="7288873"/>
            <a:ext cx="9375391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Recommendations + an 85% usage what-if scenario.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93906" y="-9535"/>
            <a:ext cx="1917468" cy="170059"/>
            <a:chOff x="0" y="0"/>
            <a:chExt cx="2556624" cy="22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6637" cy="226695"/>
            </a:xfrm>
            <a:custGeom>
              <a:avLst/>
              <a:gdLst/>
              <a:ahLst/>
              <a:cxnLst/>
              <a:rect r="r" b="b" t="t" l="l"/>
              <a:pathLst>
                <a:path h="226695" w="2556637">
                  <a:moveTo>
                    <a:pt x="0" y="0"/>
                  </a:moveTo>
                  <a:lnTo>
                    <a:pt x="2556637" y="0"/>
                  </a:lnTo>
                  <a:lnTo>
                    <a:pt x="2556637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82403" y="398050"/>
            <a:ext cx="1092651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SHEA/TECHNICAL 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510" y="398050"/>
            <a:ext cx="1317812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A3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403" y="988304"/>
            <a:ext cx="1648584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ENGINEERING AND MODEL SPECIFICATION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403" y="1574349"/>
            <a:ext cx="16485841" cy="106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D264C"/>
                </a:solidFill>
                <a:latin typeface="Aptos Bold"/>
                <a:ea typeface="Aptos Bold"/>
                <a:cs typeface="Aptos Bold"/>
                <a:sym typeface="Aptos Bold"/>
              </a:rPr>
              <a:t>The saved path is reproducible and deliberately lightweight</a:t>
            </a:r>
          </a:p>
        </p:txBody>
      </p:sp>
      <p:sp>
        <p:nvSpPr>
          <p:cNvPr name="AutoShape 10" id="10"/>
          <p:cNvSpPr/>
          <p:nvPr/>
        </p:nvSpPr>
        <p:spPr>
          <a:xfrm rot="3900">
            <a:off x="745436" y="9535306"/>
            <a:ext cx="16806862" cy="0"/>
          </a:xfrm>
          <a:prstGeom prst="line">
            <a:avLst/>
          </a:prstGeom>
          <a:ln cap="rnd" w="9525">
            <a:solidFill>
              <a:srgbClr val="D1DC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82403" y="9736426"/>
            <a:ext cx="5435822" cy="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SMART HOME ENERGY ADVISOR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54970" y="2772798"/>
          <a:ext cx="9665901" cy="5261911"/>
        </p:xfrm>
        <a:graphic>
          <a:graphicData uri="http://schemas.openxmlformats.org/drawingml/2006/table">
            <a:tbl>
              <a:tblPr/>
              <a:tblGrid>
                <a:gridCol w="2803111"/>
                <a:gridCol w="6862791"/>
              </a:tblGrid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Stage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1"/>
                        </a:lnSpc>
                        <a:defRPr/>
                      </a:pPr>
                      <a:r>
                        <a:rPr lang="en-US" sz="135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Notebook specification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4C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Temporal features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Hour, Month, IsWeekend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Context features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Temperature, Household size, Season, Power max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Split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80 / 20; random_state = 42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Scaling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StandardScaler fit on training numeric columns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876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Candidate models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142236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Linear Regression, Random Forest, XGBoost, Gradient Boosting</a:t>
                      </a:r>
                      <a:endParaRPr lang="en-US" sz="1100"/>
                    </a:p>
                  </a:txBody>
                  <a:tcPr marL="109728" marR="109728" marT="109728" marB="1097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0862034" y="2763269"/>
            <a:ext cx="6058824" cy="2283971"/>
            <a:chOff x="0" y="0"/>
            <a:chExt cx="8078432" cy="304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78343" cy="3045206"/>
            </a:xfrm>
            <a:custGeom>
              <a:avLst/>
              <a:gdLst/>
              <a:ahLst/>
              <a:cxnLst/>
              <a:rect r="r" b="b" t="t" l="l"/>
              <a:pathLst>
                <a:path h="3045206" w="8078343">
                  <a:moveTo>
                    <a:pt x="0" y="243586"/>
                  </a:moveTo>
                  <a:cubicBezTo>
                    <a:pt x="0" y="109093"/>
                    <a:pt x="109093" y="0"/>
                    <a:pt x="243586" y="0"/>
                  </a:cubicBezTo>
                  <a:lnTo>
                    <a:pt x="7834757" y="0"/>
                  </a:lnTo>
                  <a:cubicBezTo>
                    <a:pt x="7969250" y="0"/>
                    <a:pt x="8078343" y="109093"/>
                    <a:pt x="8078343" y="243586"/>
                  </a:cubicBezTo>
                  <a:lnTo>
                    <a:pt x="8078343" y="2801620"/>
                  </a:lnTo>
                  <a:cubicBezTo>
                    <a:pt x="8078343" y="2936113"/>
                    <a:pt x="7969250" y="3045206"/>
                    <a:pt x="7834757" y="3045206"/>
                  </a:cubicBezTo>
                  <a:lnTo>
                    <a:pt x="243586" y="3045206"/>
                  </a:lnTo>
                  <a:cubicBezTo>
                    <a:pt x="109093" y="3045333"/>
                    <a:pt x="0" y="2936240"/>
                    <a:pt x="0" y="280162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62034" y="2763269"/>
            <a:ext cx="115148" cy="2283971"/>
            <a:chOff x="0" y="0"/>
            <a:chExt cx="153530" cy="30452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543" cy="3045333"/>
            </a:xfrm>
            <a:custGeom>
              <a:avLst/>
              <a:gdLst/>
              <a:ahLst/>
              <a:cxnLst/>
              <a:rect r="r" b="b" t="t" l="l"/>
              <a:pathLst>
                <a:path h="3045333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045333"/>
                  </a:lnTo>
                  <a:lnTo>
                    <a:pt x="0" y="3045333"/>
                  </a:lnTo>
                  <a:close/>
                </a:path>
              </a:pathLst>
            </a:custGeom>
            <a:solidFill>
              <a:srgbClr val="1967D2"/>
            </a:solidFill>
            <a:ln w="19065" cap="sq">
              <a:solidFill>
                <a:srgbClr val="1967D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228441" y="3065240"/>
            <a:ext cx="54083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SELECTED BASELINE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28441" y="3596383"/>
            <a:ext cx="5408371" cy="60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967D2"/>
                </a:solidFill>
                <a:latin typeface="Aptos Bold"/>
                <a:ea typeface="Aptos Bold"/>
                <a:cs typeface="Aptos Bold"/>
                <a:sym typeface="Aptos Bold"/>
              </a:rPr>
              <a:t>R² 0.7575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8441" y="4351353"/>
            <a:ext cx="5408371" cy="41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Linear Regression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62034" y="5371348"/>
            <a:ext cx="6058824" cy="2764412"/>
            <a:chOff x="0" y="0"/>
            <a:chExt cx="8078432" cy="36858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78470" cy="3685921"/>
            </a:xfrm>
            <a:custGeom>
              <a:avLst/>
              <a:gdLst/>
              <a:ahLst/>
              <a:cxnLst/>
              <a:rect r="r" b="b" t="t" l="l"/>
              <a:pathLst>
                <a:path h="3685921" w="8078470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7783576" y="0"/>
                  </a:lnTo>
                  <a:cubicBezTo>
                    <a:pt x="7946390" y="0"/>
                    <a:pt x="8078470" y="132080"/>
                    <a:pt x="8078470" y="294894"/>
                  </a:cubicBezTo>
                  <a:lnTo>
                    <a:pt x="8078470" y="3391027"/>
                  </a:lnTo>
                  <a:cubicBezTo>
                    <a:pt x="8078470" y="3553841"/>
                    <a:pt x="7946389" y="3685921"/>
                    <a:pt x="7783576" y="3685921"/>
                  </a:cubicBezTo>
                  <a:lnTo>
                    <a:pt x="294894" y="3685921"/>
                  </a:lnTo>
                  <a:cubicBezTo>
                    <a:pt x="132080" y="3685921"/>
                    <a:pt x="0" y="3553841"/>
                    <a:pt x="0" y="33910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1DC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862034" y="5371348"/>
            <a:ext cx="115148" cy="2764412"/>
            <a:chOff x="0" y="0"/>
            <a:chExt cx="153530" cy="36858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3543" cy="3685921"/>
            </a:xfrm>
            <a:custGeom>
              <a:avLst/>
              <a:gdLst/>
              <a:ahLst/>
              <a:cxnLst/>
              <a:rect r="r" b="b" t="t" l="l"/>
              <a:pathLst>
                <a:path h="3685921" w="153543">
                  <a:moveTo>
                    <a:pt x="0" y="0"/>
                  </a:moveTo>
                  <a:lnTo>
                    <a:pt x="153543" y="0"/>
                  </a:lnTo>
                  <a:lnTo>
                    <a:pt x="153543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DB313F"/>
            </a:solidFill>
            <a:ln w="19065" cap="sq">
              <a:solidFill>
                <a:srgbClr val="DB313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228441" y="5673319"/>
            <a:ext cx="5408371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DB313F"/>
                </a:solidFill>
                <a:latin typeface="Aptos Bold"/>
                <a:ea typeface="Aptos Bold"/>
                <a:cs typeface="Aptos Bold"/>
                <a:sym typeface="Aptos Bold"/>
              </a:rPr>
              <a:t>DEPLOYMENT ARTIFACTS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28441" y="6204461"/>
            <a:ext cx="5408371" cy="164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best_model.joblib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scaler_aux.joblib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meta.json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2236"/>
                </a:solidFill>
                <a:latin typeface="Aptos"/>
                <a:ea typeface="Aptos"/>
                <a:cs typeface="Aptos"/>
                <a:sym typeface="Aptos"/>
              </a:rPr>
              <a:t>advisor_logic.py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2403" y="8716451"/>
            <a:ext cx="12299185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B6C84"/>
                </a:solidFill>
                <a:latin typeface="Aptos Bold"/>
                <a:ea typeface="Aptos Bold"/>
                <a:cs typeface="Aptos Bold"/>
                <a:sym typeface="Aptos Bold"/>
              </a:rPr>
              <a:t>NOTEBOOK FEATURE ENGINEERING / MODEL EVALUATION / SAVED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DAHVcjdvwQ8</dc:identifier>
  <dcterms:modified xsi:type="dcterms:W3CDTF">2011-08-01T06:04:30Z</dcterms:modified>
  <cp:revision>1</cp:revision>
  <dc:title>Smart Home Energy Advisor</dc:title>
</cp:coreProperties>
</file>